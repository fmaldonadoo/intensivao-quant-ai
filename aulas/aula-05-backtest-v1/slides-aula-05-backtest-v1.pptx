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200400"/>
            <a:ext cx="1177747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5A623"/>
                </a:solidFill>
              </a:rPr>
              <a:t>Aula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Backtest v1: Simulacao Historica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F4F8"/>
                </a:solidFill>
              </a:rPr>
              <a:t>Transformar o sinal em retornos de portfolio e medir a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889A"/>
                </a:solidFill>
              </a:rPr>
              <a:t>Intensivao Quant AI | ImpactUFSCar |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Nesta aula: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39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O que e um backtest e quais hipoteses simplificadoras fazemos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Construcao do portfolio: pesos, retornos e rebalanceamento mensal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Metricas de performance: Sharpe, Sortino, Max Drawdown, Calmar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Benchmark: por que comparar com o IBOVESPA e como fazer certo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Primeiras conclusoes: o sinal gera alpha? A que custo?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Estrutura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20 min de teoria + 40 min de live coding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577840" cy="5074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57784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Fundamentos (teoria)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27632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Hipoteses do backtest: o que assumimos e o que ignoramos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Metricas de risco-retorno: Sharpe, Sortino, MDD, Calmar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Benchmark e alpha: o que significa bater o indice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Limitacoes desta versao (a corrigir na Aula 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5577840" cy="5074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557784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1887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Live 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27632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Construir portfolio com top 10 acoes (equal-weight)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Calcular retornos mensais do portfolio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Implementar calcular_metricas() reutilizavel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Comparar com IBOVESPA (benchmark)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Grafico de retorno acumulado e drawdown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Hipoteses do Backtest — O que Assumimos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Todo backtest e uma simplificacao da realidade — conhecer as hipoteses e fundamental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Um backtest simula como a estrategia teria se comportado no passado. A distancia entre o backtest e a realidade e determinada pelas hipoteses assumidas. Hipoteses otimistas geram resultados que nao se replicam fora da amostra.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09928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47088"/>
            <a:ext cx="3639312" cy="4343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847088"/>
            <a:ext cx="3639312" cy="38404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911095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Assumimos (Simplificacoes)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322576"/>
            <a:ext cx="3456432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Execucao no fechamento do mes sem slippage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Liquidez ilimitada — qualquer tamanho de posicao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Sem custos de transacao (corrigido na Aula 8)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Dados historicos disponiveis ex-ante (cuidado!)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Portfolio long-only sem alavancagem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847088"/>
            <a:ext cx="3639312" cy="4343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847088"/>
            <a:ext cx="3639312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9976" y="1911095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Ignoramos (Problemas Reais)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2322576"/>
            <a:ext cx="3456432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Bid-ask spread: custo real de executar ordens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Market impact: ordens grandes movem o preco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Borrow cost: custo de aluguel em vendas a descoberto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Impostos: IOF, IR sobre ganhos de capital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Restricoes de short: nem toda acao tem aluguel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847088"/>
            <a:ext cx="3639312" cy="4343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847088"/>
            <a:ext cx="3639312" cy="384048"/>
          </a:xfrm>
          <a:prstGeom prst="rect">
            <a:avLst/>
          </a:prstGeom>
          <a:solidFill>
            <a:srgbClr val="1A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7" y="1911095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Quando o Backtest e Valido?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7" y="2322576"/>
            <a:ext cx="3456432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Regra geral: resultado bom no backtest simples e necessario, nao suficiente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Validacao fora da amostra (walk-forward) e obrigatoria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Quanto maior o Sharpe simulado, maior o ceticismo necessario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Transparencia total sobre hipoteses ao apresentar resultados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Backtest e ferramenta de falsificacao, nao de confirmacao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Bailey, D.H. &amp; Lopez de Prado, M. (2012). The Sharpe Ratio Efficient Frontier. JOIS, 5(2), 13–31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Metricas de Performance — O Dicionario do Backtest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Saber o que cada metrica mede e crucial para nao se enganar com bons numeros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61872"/>
            <a:ext cx="5669280" cy="2423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61872"/>
            <a:ext cx="5669280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1673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Sharpe Ratio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19072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Formula: (E[r] - rf) / σ × √12
Mede: retorno por unidade de risco total
Bom: &gt; 0,5 (aceitavel), &gt; 1,0 (bom), &gt; 1,5 (excelente)
Limitacao: penaliza retornos positivos acima da media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261872"/>
            <a:ext cx="5669280" cy="2423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261872"/>
            <a:ext cx="5669280" cy="365760"/>
          </a:xfrm>
          <a:prstGeom prst="rect">
            <a:avLst/>
          </a:prstGeom>
          <a:solidFill>
            <a:srgbClr val="1A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1673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Sortino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19072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Formula: (E[r] - rf) / downside_vol × √12
Mede: retorno por unidade de risco de queda
Downside vol: desvio dos retornos negativos apenas
Mais relevante para estrategias com retornos assimetricos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40479"/>
            <a:ext cx="5669280" cy="2423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840479"/>
            <a:ext cx="566928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95343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Max Drawdown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297679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MDD = min( (P_t - max(P_s, s≤t)) / max(P_s, s≤t) )
Mede: pior queda pico-a-vale no periodo
Critico para aversao a perda de investidores reais
Complementar Sharpe: estrategia pode ter bom Sharpe e MDD devastador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840479"/>
            <a:ext cx="5669280" cy="2423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840479"/>
            <a:ext cx="5669280" cy="3657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895343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Calmar Ratio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297679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Formula: CAGR / |Max Drawdown|
Mede: retorno anualizado por unidade de drawdown maximo
Bom: &gt; 0,5; estrategias com Calmar &gt; 1,0 sao raras e atrativas
Muito valorizado por gestores de risco e alocadores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Sharpe, W.F. (1994). The Sharpe Ratio. J. of Portfolio Management, 21(1), 49–58; Sortino, F.A. &amp; Price, L.N. (1994). Performance Measurement in a Downside Risk Framework. JPM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 que Vamos Construir Hoje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Criterio de conclusao: notebook roda do inicio ao fim sem erros e gera os parquets abaixo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7406640" cy="5074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740664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7132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Funcoes e logica que vamos implementar: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27632"/>
            <a:ext cx="7132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construir_portfolio(sinal, ret_mensais, n_top=10) — pesos e retornos mensais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calcular_metricas(retornos, benchmark, nome) — Sharpe, Sortino, MDD, Calmar, alpha, beta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exibir_metricas(*dicts) — tabela comparativa formatada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plot_retorno_acumulado(retornos_dict) — curvas de riqueza comparativas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plot_drawdown(retornos) — evolucao do drawdown ao longo do tempo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143000"/>
            <a:ext cx="3840480" cy="2377440"/>
          </a:xfrm>
          <a:prstGeom prst="rect">
            <a:avLst/>
          </a:prstGeom>
          <a:solidFill>
            <a:srgbClr val="EA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18872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Entradas: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572768"/>
            <a:ext cx="3566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dados/retornos_mensais_limpo.parquet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dados/sinal_v1.parquet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3749039"/>
            <a:ext cx="3840480" cy="2468880"/>
          </a:xfrm>
          <a:prstGeom prst="rect">
            <a:avLst/>
          </a:prstGeom>
          <a:solidFill>
            <a:srgbClr val="EA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379476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Saidas (parquets):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178808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dados/pesos_v1.parquet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dados/retorno_carteira_v1.parquet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