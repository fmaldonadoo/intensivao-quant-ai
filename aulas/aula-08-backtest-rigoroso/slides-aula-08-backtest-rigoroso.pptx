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3200400"/>
            <a:ext cx="1177747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4114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 i="0">
                <a:solidFill>
                  <a:srgbClr val="F5A623"/>
                </a:solidFill>
              </a:rPr>
              <a:t>Aula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716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Backtest Rigoroso: 6 Armadilhas Fatais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11680"/>
            <a:ext cx="10058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0F4F8"/>
                </a:solidFill>
              </a:rPr>
              <a:t>A diferenca entre um backtest que engana e um que convence o juri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87168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7889A"/>
                </a:solidFill>
              </a:rPr>
              <a:t>Intensivao Quant AI | ImpactUFSCar |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3832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</a:rPr>
              <a:t>Nesta aula: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749039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300">
                <a:solidFill>
                  <a:srgbClr val="F0F4F8"/>
                </a:solidFill>
              </a:rPr>
              <a:t>  Look-ahead bias: o erro que fabrica performance inexistente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F0F4F8"/>
                </a:solidFill>
              </a:rPr>
              <a:t>  Overfitting: ajustar parametros ate o passado ficar perfeito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F0F4F8"/>
                </a:solidFill>
              </a:rPr>
              <a:t>  Multiple testing: p-hacking e o Deflated Sharpe Ratio (Bailey &amp; LdP, 2014)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F0F4F8"/>
                </a:solidFill>
              </a:rPr>
              <a:t>  Custos de transacao: o assassino silencioso do alpha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F0F4F8"/>
                </a:solidFill>
              </a:rPr>
              <a:t>  Walk-forward validation: a unica forma honesta de estimar performance OOS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F0F4F8"/>
                </a:solidFill>
              </a:rPr>
              <a:t>  Como apresentar um backtest rigoros ao juri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91440"/>
            <a:ext cx="1168603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Estrutura da Aula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40080"/>
            <a:ext cx="1168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0F4F8"/>
                </a:solidFill>
              </a:rPr>
              <a:t>~30 min de teoria + ~90 min de live coding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143000"/>
            <a:ext cx="5577840" cy="50749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5577840" cy="38404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88720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Fundamentos (teoria)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27632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300">
                <a:solidFill>
                  <a:srgbClr val="0D1B3E"/>
                </a:solidFill>
              </a:rPr>
              <a:t>  Look-ahead bias: definicao e como contamina</a:t>
            </a:r>
          </a:p>
          <a:p>
            <a:pPr>
              <a:spcBef>
                <a:spcPts val="1000"/>
              </a:spcBef>
            </a:pPr>
            <a:r>
              <a:rPr sz="1300">
                <a:solidFill>
                  <a:srgbClr val="0D1B3E"/>
                </a:solidFill>
              </a:rPr>
              <a:t>  Overfitting: fitting noise vs signal</a:t>
            </a:r>
          </a:p>
          <a:p>
            <a:pPr>
              <a:spcBef>
                <a:spcPts val="1000"/>
              </a:spcBef>
            </a:pPr>
            <a:r>
              <a:rPr sz="1300">
                <a:solidFill>
                  <a:srgbClr val="0D1B3E"/>
                </a:solidFill>
              </a:rPr>
              <a:t>  Multiple testing e DSR: correcao estatistica</a:t>
            </a:r>
          </a:p>
          <a:p>
            <a:pPr>
              <a:spcBef>
                <a:spcPts val="1000"/>
              </a:spcBef>
            </a:pPr>
            <a:r>
              <a:rPr sz="1300">
                <a:solidFill>
                  <a:srgbClr val="0D1B3E"/>
                </a:solidFill>
              </a:rPr>
              <a:t>  Walk-forward: treino/teste temporal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43000"/>
            <a:ext cx="5577840" cy="50749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143000"/>
            <a:ext cx="5577840" cy="38404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188720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</a:rPr>
              <a:t>Live Coding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627632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300">
                <a:solidFill>
                  <a:srgbClr val="0D1B3E"/>
                </a:solidFill>
              </a:rPr>
              <a:t>  Demonstrar look-ahead bias (antes e depois)</a:t>
            </a:r>
          </a:p>
          <a:p>
            <a:pPr>
              <a:spcBef>
                <a:spcPts val="1000"/>
              </a:spcBef>
            </a:pPr>
            <a:r>
              <a:rPr sz="1300">
                <a:solidFill>
                  <a:srgbClr val="0D1B3E"/>
                </a:solidFill>
              </a:rPr>
              <a:t>  Sweep de parametros: 35 janelas, Sharpe por janela</a:t>
            </a:r>
          </a:p>
          <a:p>
            <a:pPr>
              <a:spcBef>
                <a:spcPts val="1000"/>
              </a:spcBef>
            </a:pPr>
            <a:r>
              <a:rPr sz="1300">
                <a:solidFill>
                  <a:srgbClr val="0D1B3E"/>
                </a:solidFill>
              </a:rPr>
              <a:t>  Simulacao de 1000 estrategias aleatorias (DSR)</a:t>
            </a:r>
          </a:p>
          <a:p>
            <a:pPr>
              <a:spcBef>
                <a:spcPts val="1000"/>
              </a:spcBef>
            </a:pPr>
            <a:r>
              <a:rPr sz="1300">
                <a:solidFill>
                  <a:srgbClr val="0D1B3E"/>
                </a:solidFill>
              </a:rPr>
              <a:t>  Modelar 4 cenarios de custo de transacao</a:t>
            </a:r>
          </a:p>
          <a:p>
            <a:pPr>
              <a:spcBef>
                <a:spcPts val="1000"/>
              </a:spcBef>
            </a:pPr>
            <a:r>
              <a:rPr sz="1300">
                <a:solidFill>
                  <a:srgbClr val="0D1B3E"/>
                </a:solidFill>
              </a:rPr>
              <a:t>  Walk-forward 48m treino / 12m teste rolling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91440"/>
            <a:ext cx="1168603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Look-Ahead Bias — O Erro que Fabrica Alpha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40080"/>
            <a:ext cx="1168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0F4F8"/>
                </a:solidFill>
              </a:rPr>
              <a:t>Usar informacao futura para tomar decisoes passadas: o mais perigoso dos erros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7043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D1B3E"/>
                </a:solidFill>
              </a:rPr>
              <a:t>Look-ahead bias ocorre quando o sinal ou a decisao de portfolio usa informacao que nao estaria disponivel no momento da decisao. O resultado e um backtest artificialmente otimista que nao se replica na pratica.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09928"/>
            <a:ext cx="11247120" cy="2743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47088"/>
            <a:ext cx="5577840" cy="437083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92024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3E"/>
                </a:solidFill>
              </a:rPr>
              <a:t>Como Acontece na Pratica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340864"/>
            <a:ext cx="5303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200">
                <a:solidFill>
                  <a:srgbClr val="0D1B3E"/>
                </a:solidFill>
              </a:rPr>
              <a:t>  ERRADO: sinal_t usa retorno DE t (inclui informacao de t)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0D1B3E"/>
                </a:solidFill>
              </a:rPr>
              <a:t>  ERRADO: sinal = ret.rolling(12).sum()  # sem shift — contamina!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0D1B3E"/>
                </a:solidFill>
              </a:rPr>
              <a:t>  CERTO: sinal_t usa retornos ate t-2 (shift garante isso)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0D1B3E"/>
                </a:solidFill>
              </a:rPr>
              <a:t>  CERTO: sinal = ret.shift(2).rolling(11).sum()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0D1B3E"/>
                </a:solidFill>
              </a:rPr>
              <a:t>  Outro exemplo: usar preco de fechamento de t para executar em t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0D1B3E"/>
                </a:solidFill>
              </a:rPr>
              <a:t>  Correto: executar no fechamento de t+1 (next close)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47088"/>
            <a:ext cx="5577840" cy="437083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92024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3E"/>
                </a:solidFill>
              </a:rPr>
              <a:t>Impacto Quantificado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340864"/>
            <a:ext cx="5303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200">
                <a:solidFill>
                  <a:srgbClr val="0D1B3E"/>
                </a:solidFill>
              </a:rPr>
              <a:t>  Backtest com look-ahead: Sharpe tipicamente 50-200% maior que o correto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0D1B3E"/>
                </a:solidFill>
              </a:rPr>
              <a:t>  A diferenca e maior em mercados mais ineficientes (small caps, emergentes)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0D1B3E"/>
                </a:solidFill>
              </a:rPr>
              <a:t>  Detectar: comparar performance IS com e sem o shift()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0D1B3E"/>
                </a:solidFill>
              </a:rPr>
              <a:t>  Regra de ouro: trace cada dado do sinal ate sua fonte historica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0D1B3E"/>
                </a:solidFill>
              </a:rPr>
              <a:t>  Em code review: procure .rolling() sem .shift() adequado antes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0D1B3E"/>
                </a:solidFill>
              </a:rPr>
              <a:t>  Walk-forward nao corrige look-ahead — so o design correto do sinal corrige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6446520"/>
            <a:ext cx="117317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7889A"/>
                </a:solidFill>
              </a:rPr>
              <a:t>Ref.: Prado, M. Lopez de (2018). Advances in Financial Machine Learning, Cap. 11. Wiley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91440"/>
            <a:ext cx="1168603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Overfitting e Deflated Sharpe Ratio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40080"/>
            <a:ext cx="1168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0F4F8"/>
                </a:solidFill>
              </a:rPr>
              <a:t>Ajustar parametros ao passado fabrica performance — o DSR corrige o p-value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70432"/>
            <a:ext cx="11247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D1B3E"/>
                </a:solidFill>
              </a:rPr>
              <a:t>Com N parametros para escolher, e possivel encontrar uma combinacao que parece excelente historicamente por puro acaso (data snooping). O Deflated Sharpe Ratio de Bailey &amp; Lopez de Prado (2014) calcula o Sharpe minimo necessario dado o numero de testes realizados.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82496"/>
            <a:ext cx="11247120" cy="2743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19656"/>
            <a:ext cx="5577840" cy="440740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892807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3E"/>
                </a:solidFill>
              </a:rPr>
              <a:t>Deflated Sharpe Ratio (DSR)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313432"/>
            <a:ext cx="53035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D1B3E"/>
                </a:solidFill>
              </a:rPr>
              <a:t># Sharpe minimo necessario dado N testes (Bailey &amp; LdP 2014)
from scipy.stats import norm
import numpy as np
EULER = 0.5772156649
def sharpe_minimo(n_testes, sharpe_std=1.0):
    sr = sharpe_std * (
        (1 - EULER) * norm.ppf(1 - 1/n_testes)
        + EULER * norm.ppf(1 - 1/(n_testes * np.e))
    )
    return sr
# Exemplo: 35 testes -&gt; SR minimo ~ 2.5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983480"/>
            <a:ext cx="53035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>
                <a:solidFill>
                  <a:srgbClr val="0D1B3E"/>
                </a:solidFill>
              </a:rPr>
              <a:t>  Quanto mais testes, maior o SR minimo necessario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0D1B3E"/>
                </a:solidFill>
              </a:rPr>
              <a:t>  Fundamento: correcao de Bonferroni probabilistica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819656"/>
            <a:ext cx="5577840" cy="440740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892807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3E"/>
                </a:solidFill>
              </a:rPr>
              <a:t>Como Detectar e Evitar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313432"/>
            <a:ext cx="5303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>
                <a:solidFill>
                  <a:srgbClr val="0D1B3E"/>
                </a:solidFill>
              </a:rPr>
              <a:t>  Registrar TODOS os parametros testados (nao esconder os que falharam)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0D1B3E"/>
                </a:solidFill>
              </a:rPr>
              <a:t>  Escolha de parametros deve ter fundamento economico ANTES do teste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0D1B3E"/>
                </a:solidFill>
              </a:rPr>
              <a:t>  Exemplo: janela de 12 meses vem de Jegadeesh &amp; Titman (1993) — nao de sweep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0D1B3E"/>
                </a:solidFill>
              </a:rPr>
              <a:t>  Sweep de sensibilidade: mostrar que performance e robusta ao redor do parametro escolhido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0D1B3E"/>
                </a:solidFill>
              </a:rPr>
              <a:t>  Simulacao de estrategias aleatorias: quantas batem nosso Sharpe por puro acaso?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0D1B3E"/>
                </a:solidFill>
              </a:rPr>
              <a:t>  Walk-forward OOS: a validacao mais importante de todas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6446520"/>
            <a:ext cx="117317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7889A"/>
                </a:solidFill>
              </a:rPr>
              <a:t>Ref.: Bailey, D.H. &amp; Lopez de Prado, M. (2014). The Deflated Sharpe Ratio. Financial Analysts Journal, 70(5), 94–107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91440"/>
            <a:ext cx="1168603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Walk-Forward Validation e Custos de Transacao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40080"/>
            <a:ext cx="1168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0F4F8"/>
                </a:solidFill>
              </a:rPr>
              <a:t>A validacao mais credivel e o drag de custos que o backtest simples ignora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43000"/>
            <a:ext cx="11247120" cy="2743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234440"/>
            <a:ext cx="5577840" cy="498348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9844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3E"/>
                </a:solidFill>
              </a:rPr>
              <a:t>Walk-Forward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719072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>
                <a:solidFill>
                  <a:srgbClr val="0D1B3E"/>
                </a:solidFill>
              </a:rPr>
              <a:t>  Divisao temporal: nao embaralhar dados (a diferenca do k-fold classico)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0D1B3E"/>
                </a:solidFill>
              </a:rPr>
              <a:t>  Janela de treino: 48 meses (4 anos) — suficiente para estimar o sinal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0D1B3E"/>
                </a:solidFill>
              </a:rPr>
              <a:t>  Janela de teste: 12 meses (1 ano) — OOS real, nunca visto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0D1B3E"/>
                </a:solidFill>
              </a:rPr>
              <a:t>  Rolling: deslizar janela um mes de cada vez, concatenar resultados OOS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0D1B3E"/>
                </a:solidFill>
              </a:rPr>
              <a:t>  Concatenar OOS: retornos de teste formam serie continua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0D1B3E"/>
                </a:solidFill>
              </a:rPr>
              <a:t>  Comparar IS vs OOS: degradacao esperada ~30-50%; se maior, overfitting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0D1B3E"/>
                </a:solidFill>
              </a:rPr>
              <a:t>  Regra: apresentar SO os resultados OOS ao juri — IS e auxiliar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234440"/>
            <a:ext cx="5577840" cy="498348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29844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3E"/>
                </a:solidFill>
              </a:rPr>
              <a:t>Custos de Transacao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719072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>
                <a:solidFill>
                  <a:srgbClr val="0D1B3E"/>
                </a:solidFill>
              </a:rPr>
              <a:t>  Componentes: corretagem + taxa B3 + spread bid-ask + imposto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0D1B3E"/>
                </a:solidFill>
              </a:rPr>
              <a:t>  Estimativa conservadora: 0,3% a 0,5% por turno (ida ou volta)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0D1B3E"/>
                </a:solidFill>
              </a:rPr>
              <a:t>  Custo mensal = turnover_mensal x custo_por_turno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0D1B3E"/>
                </a:solidFill>
              </a:rPr>
              <a:t>  Ret liquido = ret bruto - custo_mensal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0D1B3E"/>
                </a:solidFill>
              </a:rPr>
              <a:t>  Testar 4 cenarios: 0%, 0,3%, 0,5%, 1,0% por turno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0D1B3E"/>
                </a:solidFill>
              </a:rPr>
              <a:t>  Break-even: qual custo maximo que zera o alpha?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0D1B3E"/>
                </a:solidFill>
              </a:rPr>
              <a:t>  Estrategia robusta: positiva ate em cenario de custo pessimista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6446520"/>
            <a:ext cx="117317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7889A"/>
                </a:solidFill>
              </a:rPr>
              <a:t>Ref.: Bailey &amp; Lopez de Prado (2014); Keim &amp; Madhavan (1997). J. of Financial Economics, 46(3), 265–292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91440"/>
            <a:ext cx="1168603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O que Vamos Construir Hoje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40080"/>
            <a:ext cx="1168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0F4F8"/>
                </a:solidFill>
              </a:rPr>
              <a:t>Criterio de conclusao: notebook roda do inicio ao fim sem erros e gera os parquets abaixo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143000"/>
            <a:ext cx="7406640" cy="50749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7406640" cy="38404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88720"/>
            <a:ext cx="7132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Funcoes e logica que vamos implementar: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27632"/>
            <a:ext cx="7132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</a:pPr>
            <a:r>
              <a:rPr sz="1300">
                <a:solidFill>
                  <a:srgbClr val="0D1B3E"/>
                </a:solidFill>
              </a:rPr>
              <a:t>  demonstrar_lookahead(ret_mensais) — comparar sinal correto vs contaminado</a:t>
            </a:r>
          </a:p>
          <a:p>
            <a:pPr>
              <a:spcBef>
                <a:spcPts val="900"/>
              </a:spcBef>
            </a:pPr>
            <a:r>
              <a:rPr sz="1300">
                <a:solidFill>
                  <a:srgbClr val="0D1B3E"/>
                </a:solidFill>
              </a:rPr>
              <a:t>  sweep_parametros(ret_mensais, janelas=range(2,37)) — Sharpe x janela</a:t>
            </a:r>
          </a:p>
          <a:p>
            <a:pPr>
              <a:spcBef>
                <a:spcPts val="900"/>
              </a:spcBef>
            </a:pPr>
            <a:r>
              <a:rPr sz="1300">
                <a:solidFill>
                  <a:srgbClr val="0D1B3E"/>
                </a:solidFill>
              </a:rPr>
              <a:t>  simulacao_aleatorias(ret_mensais, n=1000) — distribuicao empirica de Sharpes</a:t>
            </a:r>
          </a:p>
          <a:p>
            <a:pPr>
              <a:spcBef>
                <a:spcPts val="900"/>
              </a:spcBef>
            </a:pPr>
            <a:r>
              <a:rPr sz="1300">
                <a:solidFill>
                  <a:srgbClr val="0D1B3E"/>
                </a:solidFill>
              </a:rPr>
              <a:t>  sharpe_minimo_necessario(n_testes) — formula DSR de Bailey &amp; LdP (2014)</a:t>
            </a:r>
          </a:p>
          <a:p>
            <a:pPr>
              <a:spcBef>
                <a:spcPts val="900"/>
              </a:spcBef>
            </a:pPr>
            <a:r>
              <a:rPr sz="1300">
                <a:solidFill>
                  <a:srgbClr val="0D1B3E"/>
                </a:solidFill>
              </a:rPr>
              <a:t>  modelar_custos(ret_bruto, turnover, cenarios=[0, 0.003, 0.005, 0.01])</a:t>
            </a:r>
          </a:p>
          <a:p>
            <a:pPr>
              <a:spcBef>
                <a:spcPts val="900"/>
              </a:spcBef>
            </a:pPr>
            <a:r>
              <a:rPr sz="1300">
                <a:solidFill>
                  <a:srgbClr val="0D1B3E"/>
                </a:solidFill>
              </a:rPr>
              <a:t>  walk_forward_momentum(ret_mensais, treino=48, teste=12) — retornos OOS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1000" y="1143000"/>
            <a:ext cx="3840480" cy="2377440"/>
          </a:xfrm>
          <a:prstGeom prst="rect">
            <a:avLst/>
          </a:prstGeom>
          <a:solidFill>
            <a:srgbClr val="EAF4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79" y="1188720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B3E"/>
                </a:solidFill>
              </a:rPr>
              <a:t>Entradas: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1572768"/>
            <a:ext cx="35661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>
                <a:solidFill>
                  <a:srgbClr val="0D1B3E"/>
                </a:solidFill>
              </a:rPr>
              <a:t>  dados/retornos_diarios_limpo.parquet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0D1B3E"/>
                </a:solidFill>
              </a:rPr>
              <a:t>  dados/retornos_mensais_limpo.parquet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0D1B3E"/>
                </a:solidFill>
              </a:rPr>
              <a:t>  dados/sinal_v2.parquet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01000" y="3749039"/>
            <a:ext cx="3840480" cy="2468880"/>
          </a:xfrm>
          <a:prstGeom prst="rect">
            <a:avLst/>
          </a:prstGeom>
          <a:solidFill>
            <a:srgbClr val="EAF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79" y="3794760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B3E"/>
                </a:solidFill>
              </a:rPr>
              <a:t>Saidas (parquets):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79" y="4178808"/>
            <a:ext cx="35661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>
                <a:solidFill>
                  <a:srgbClr val="0D1B3E"/>
                </a:solidFill>
              </a:rPr>
              <a:t>  dados/retorno_walkforward_liquido.parquet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