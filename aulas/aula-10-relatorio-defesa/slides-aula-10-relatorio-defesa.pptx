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11480" y="3200400"/>
            <a:ext cx="1177747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274320"/>
            <a:ext cx="4114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5A623"/>
                </a:solidFill>
              </a:rPr>
              <a:t>Aula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Relatorio Final e Defesa Oral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1168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0F4F8"/>
                </a:solidFill>
              </a:rPr>
              <a:t>O produto final do Intensivao: apresentar e defender a estrategia ao juri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889A"/>
                </a:solidFill>
              </a:rPr>
              <a:t>Intensivao Quant AI | ImpactUFSCar |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32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Nesta aula: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39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Estrutura do relatorio tecnico quant: o que vai em cada secao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Tear sheet: o cartao de visita visual da estrategia (5 paineis)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Defesa oral: como responder perguntas do juri com fundamento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Rubrica de avaliacao: 100 pontos distribuidos em 7 criterios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F0F4F8"/>
                </a:solidFill>
              </a:rPr>
              <a:t>  Cross-review: avaliar os outros times para afiar o proprio argumento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Estrutura da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~30 min de teoria + ~90 min de live coding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55778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557784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Fundamentos (teoria)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Estrutura do relatorio quant profissional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O que o juri realmente avalia (e como pontuar alto)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Como defender escolhas metodologicas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Erros fatais na defesa oral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143000"/>
            <a:ext cx="55778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143000"/>
            <a:ext cx="5577840" cy="3840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88720"/>
            <a:ext cx="5303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3E"/>
                </a:solidFill>
              </a:rPr>
              <a:t>Live Coding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627632"/>
            <a:ext cx="5303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Tear sheet final: 5 paineis em uma figura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Mapeamento de criterios de avaliacao por aula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Rubrica de cross-review (100 pontos)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Preparar 5 respostas para perguntas dificeis</a:t>
            </a:r>
          </a:p>
          <a:p>
            <a:pPr>
              <a:spcBef>
                <a:spcPts val="1000"/>
              </a:spcBef>
            </a:pPr>
            <a:r>
              <a:rPr sz="1300">
                <a:solidFill>
                  <a:srgbClr val="0D1B3E"/>
                </a:solidFill>
              </a:rPr>
              <a:t>  Checklist final de entrega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Estrutura do Relatorio Tecnico Quant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Um relatorio profissional tem secoes definidas — cada uma responde a uma pergunta do juri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Um relatorio quant bem estruturado nao apenas apresenta resultados — ele conta uma historia: 'Identificamos uma anomalia empiricamente suportada, implementamos de forma rigoros e obtemos resultado robusto fora da amostra, defensavel diante de custos reais.'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82496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47088"/>
            <a:ext cx="3703320" cy="2057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847088"/>
            <a:ext cx="3703320" cy="3657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1901952"/>
            <a:ext cx="3493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1. Resumo Executivo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2304288"/>
            <a:ext cx="34930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1 pagina maxima. A resposta para: qual e a estrategia, qual o resultado principal, por que e confiavel? Escreva por ultimo, mas posicione primeiro.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60" y="1847088"/>
            <a:ext cx="3703320" cy="2057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51960" y="1847088"/>
            <a:ext cx="3703320" cy="3657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1901952"/>
            <a:ext cx="3493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2. Hipotese e Fundamentacao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2304288"/>
            <a:ext cx="34930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Por que momentum? Qual a teoria economica? Quais as referencias academicas primarias? Mostrar que a tese tem base — nao e mineracao de dados.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847088"/>
            <a:ext cx="3703320" cy="2057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847088"/>
            <a:ext cx="3703320" cy="365760"/>
          </a:xfrm>
          <a:prstGeom prst="rect">
            <a:avLst/>
          </a:prstGeom>
          <a:solidFill>
            <a:srgbClr val="1A6E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47888" y="1901952"/>
            <a:ext cx="3493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3. Dados e Metodologia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304288"/>
            <a:ext cx="34930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Universo, periodo, fonte, limpeza realizada, sinal exato, esquema de alocacao. Detalhe suficiente para que qualquer pessoa replique o backtest.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4059935"/>
            <a:ext cx="3703320" cy="2057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059935"/>
            <a:ext cx="3703320" cy="365760"/>
          </a:xfrm>
          <a:prstGeom prst="rect">
            <a:avLst/>
          </a:prstGeom>
          <a:solidFill>
            <a:srgbClr val="1E8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" y="4114799"/>
            <a:ext cx="3493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4. Resultados do Backtest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" y="4517136"/>
            <a:ext cx="34930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Metricas completas (IS e OOS separados). Comparacao com benchmark. Analise de custos. Walk-forward. Graficos de retorno acumulado e drawdown.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51960" y="4059935"/>
            <a:ext cx="3703320" cy="2057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51960" y="4059935"/>
            <a:ext cx="3703320" cy="36576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61688" y="4114799"/>
            <a:ext cx="3493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5. Analise de Risco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4517136"/>
            <a:ext cx="34930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Sensibilidade a parametros. Cenarios de stress. Periodos de underperformance. Limitacoes explicitas do modelo. O que pode dar errado na pratica.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38160" y="4059935"/>
            <a:ext cx="3703320" cy="20574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38160" y="4059935"/>
            <a:ext cx="3703320" cy="365760"/>
          </a:xfrm>
          <a:prstGeom prst="rect">
            <a:avLst/>
          </a:prstGeom>
          <a:solidFill>
            <a:srgbClr val="6C35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7888" y="4114799"/>
            <a:ext cx="34930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6. Conclusao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4517136"/>
            <a:ext cx="3493008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0D1B3E"/>
                </a:solidFill>
              </a:rPr>
              <a:t>Sintetizar os achados. Contribuicao da estrategia. Proximos passos se fosse implementar em producao.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6446520"/>
            <a:ext cx="117317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77889A"/>
                </a:solidFill>
              </a:rPr>
              <a:t>Ref.: Lo, A.W. (2016). What is an index? J. of Portfolio Management, 42(2), 21–36; Grinold, R. &amp; Kahn, R. (1999). Active Portfolio Management. McGraw-Hill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Defesa Oral — Como Responder Perguntas do Juri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Cada pergunta do juri tem uma estrutura de resposta ideal: fundamento → alternativa → sensibilidade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D1B3E"/>
                </a:solidFill>
              </a:rPr>
              <a:t>O juri vai desafiar cada escolha metodologica. A resposta ideal tem tres partes: (1) o fundamento academico ou economico da escolha, (2) as alternativas que foram consideradas e por que foram descartadas, (3) a analise de sensibilidade mostrando que o resultado e robusto.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82496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874519"/>
            <a:ext cx="1143000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92023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Por que janela 12-1?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1920239"/>
            <a:ext cx="7772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Fundamento: Jegadeesh &amp; Titman (1993) e o padrao da literatura — nao escolhemos para maximizar Sharpe.
Alternativas: testamos 3-1 a 36-1; performance e estavel para J entre 9 e 15 meses.
Sensibilidade: grafico de Sharpe x janela mostra platô robusto ao redor de 12.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770632"/>
            <a:ext cx="11430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816351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Por que equal-weight?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816351"/>
            <a:ext cx="7772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Fundamento: DeMiguel et al. (2009) mostram que 1/N supera MV em 14 datasets fora da amostra.
Alternativas: testamos vol-weight e MV; vol-weight levemente melhor, MV pior apos custos.
Sensibilidade: diferenca de Sharpe entre EW e VW e pequena — escolhemos robustez.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66744"/>
            <a:ext cx="1143000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712463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O backtest tem look-ahead?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712463"/>
            <a:ext cx="7772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Fundamento: sinal usa ret.shift(2).rolling(11) — dados disponiveis ate t-2 no maximo.
Alternativas: testamos sem shift — contamina e Sharpe sobe 40%; descartamos.
Sensibilidade: walk-forward OOS confirma performance sem acesso a dados futuros.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562856"/>
            <a:ext cx="1143000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608576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Como sabem que nao e overfitting?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31920" y="4608576"/>
            <a:ext cx="7772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Fundamento: janela escolhida por teoria, nao por sweep; DSR calculado com N=35 testes.
Alternativas: simulamos 1000 estrategias aleatorias — nosso Sharpe supera 95% delas.
Sensibilidade: performance OOS (walk-forward) e 70% da IS — degradacao esperada.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458968"/>
            <a:ext cx="11430000" cy="82296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504688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B3E"/>
                </a:solidFill>
              </a:rPr>
              <a:t>A estrategia funciona com custos reais?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31920" y="5504688"/>
            <a:ext cx="777240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D1B3E"/>
                </a:solidFill>
              </a:rPr>
              <a:t>Fundamento: modelamos 4 cenarios: 0%, 0,3%, 0,5%, 1,0% por turno.
Alternativas: break-even de custo e X% — acima disso alpha desaparece.
Sensibilidade: com custo de 0,3% (conservador), Sharpe liquido ainda e positivo.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Checklist Final de Entrega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Tudo que o relatorio e a defesa precisam ter — marque antes de submeter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43000"/>
            <a:ext cx="11247120" cy="27432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984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Hipotese economica clara com referencias academicas primarias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842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Sinal implementado com shift() correto (sem look-ahead bias)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700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Backtest com custos reais modelados (minimo 2 cenarios)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558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Walk-forward OOS reportado separadamente do 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0416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Deflated Sharpe Ratio calculado e reportado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274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Analise de sensibilidade a parametros (janela, N acoes)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4132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Tear sheet com retorno acumulado e drawdown como figura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2984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Comparacao com benchmark IBOVESPA em todas as metricas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9842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Metricas: Sharpe, Sortino, MDD, Calmar, alpha, beta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700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Periodos de underperformance discutidos honestamente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3558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Limitacoes do modelo explicitadas na conclusao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40416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Relatorio com revisao humana (nao so GenAI)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7274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5 perguntas dificeis preparadas com estrutura fund→alt→sens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5413248"/>
            <a:ext cx="5760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D1B3E"/>
                </a:solidFill>
              </a:rPr>
              <a:t>[ ] Notebook roda do inicio ao fim sem erros antes de entregar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6172200"/>
            <a:ext cx="11430000" cy="50292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23620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A623"/>
                </a:solidFill>
              </a:rPr>
              <a:t>Lembre: o juri avalia rigor metodologico e capacidade de defesa — nao so o resultado numerico.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105156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84048" y="91440"/>
            <a:ext cx="1168603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O que Vamos Construir Hoje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40080"/>
            <a:ext cx="116860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F0F4F8"/>
                </a:solidFill>
              </a:rPr>
              <a:t>Criterio de conclusao: notebook roda do inicio ao fim sem erros e gera os parquets abaixo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143000"/>
            <a:ext cx="7406640" cy="507492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143000"/>
            <a:ext cx="7406640" cy="384048"/>
          </a:xfrm>
          <a:prstGeom prst="rect">
            <a:avLst/>
          </a:prstGeom>
          <a:solidFill>
            <a:srgbClr val="0D1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188720"/>
            <a:ext cx="7132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Funcoes e logica que vamos implementar: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627632"/>
            <a:ext cx="7132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tearsheet_final(retornos, benchmark, metricas) — figura 5-paineis completa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plot_mapeamento_criterios() — cobertura de cada aula nos 7 criterios do juri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rubrica_crossreview() — tabela 100 pontos para avaliar outras equipes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preparar_defesa(perguntas, respostas) — formatar Q&amp;A com estrutura fund→alt→sens</a:t>
            </a:r>
          </a:p>
          <a:p>
            <a:pPr>
              <a:spcBef>
                <a:spcPts val="900"/>
              </a:spcBef>
            </a:pPr>
            <a:r>
              <a:rPr sz="1300">
                <a:solidFill>
                  <a:srgbClr val="0D1B3E"/>
                </a:solidFill>
              </a:rPr>
              <a:t>  checklist_final() — verificar todos os requisitos do relatorio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1000" y="1143000"/>
            <a:ext cx="3840480" cy="2377440"/>
          </a:xfrm>
          <a:prstGeom prst="rect">
            <a:avLst/>
          </a:prstGeom>
          <a:solidFill>
            <a:srgbClr val="EAF4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79" y="118872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Entradas: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1572768"/>
            <a:ext cx="35661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dados/retorno_carteira_sinal_v2.parquet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dados/retorno_walkforward_liquido.parquet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relatorio_draft.md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01000" y="3749039"/>
            <a:ext cx="3840480" cy="2468880"/>
          </a:xfrm>
          <a:prstGeom prst="rect">
            <a:avLst/>
          </a:prstGeom>
          <a:solidFill>
            <a:srgbClr val="EA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3794760"/>
            <a:ext cx="35661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3E"/>
                </a:solidFill>
              </a:rPr>
              <a:t>Saidas (parquets):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79" y="4178808"/>
            <a:ext cx="35661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relatorio_final.md (versao revisada e completa)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tearsheet_final.png</a:t>
            </a:r>
          </a:p>
          <a:p>
            <a:pPr>
              <a:spcBef>
                <a:spcPts val="600"/>
              </a:spcBef>
            </a:pPr>
            <a:r>
              <a:rPr sz="1100">
                <a:solidFill>
                  <a:srgbClr val="0D1B3E"/>
                </a:solidFill>
              </a:rPr>
              <a:t>  crossreview_rubrica.png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