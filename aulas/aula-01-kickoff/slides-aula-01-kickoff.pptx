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429000"/>
            <a:ext cx="1177747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A623"/>
                </a:solidFill>
              </a:rPr>
              <a:t>IMPACTUFSC AR  —  QUANT DIRECTORATE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Intensivão Quant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5A623"/>
                </a:solidFill>
              </a:rPr>
              <a:t>Aula 1 — Kickoff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4F8"/>
                </a:solidFill>
              </a:rPr>
              <a:t>Fundamentos do Mercado Financeiro &amp; Introdução à Estratégia Quantitativa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889A"/>
                </a:solidFill>
              </a:rPr>
              <a:t>Desafio Quant AI — Itaú Asset Management  | 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8912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• Universo: ~77 ações constituintes do IBOVESPA (dados via yfinance)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• Estratégia: momentum cross-sectional 12-1 meses (Jegadeesh &amp; Titman, 1993)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• Objetivo: construir, backtester e defender uma estratégia quant completa em 10 aulas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9728"/>
            <a:ext cx="11640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Agenda — Aula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8368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O que vamos cobrir hoje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11430000" cy="5760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1B3E"/>
                </a:solidFill>
              </a:rPr>
              <a:t>1   O ecossistema financeiro — classes de ativos e seus papéis no portfólio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83664"/>
            <a:ext cx="114300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933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1B3E"/>
                </a:solidFill>
              </a:rPr>
              <a:t>2   Renda Fixa — yield, duration e risco de crédito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05456"/>
            <a:ext cx="11430000" cy="5760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1518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1B3E"/>
                </a:solidFill>
              </a:rPr>
              <a:t>3   Renda Variável — equity risk premium e por que ações sobem no longo prazo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27248"/>
            <a:ext cx="114300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23697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1B3E"/>
                </a:solidFill>
              </a:rPr>
              <a:t>4   A Hipótese dos Mercados Eficientes e suas anomalias empíricas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49039"/>
            <a:ext cx="11430000" cy="5760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8587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1B3E"/>
                </a:solidFill>
              </a:rPr>
              <a:t>5   Factor Investing — do stock-picking a fatores sistemáticos (Fama-French, Carhart)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70832"/>
            <a:ext cx="114300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480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1B3E"/>
                </a:solidFill>
              </a:rPr>
              <a:t>6   O Efeito Momentum — fundamento acadêmico da nossa estratégia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992624"/>
            <a:ext cx="11430000" cy="5760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1023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1B3E"/>
                </a:solidFill>
              </a:rPr>
              <a:t>7   Behavioral Finance — por que o momentum persiste se os mercados são eficientes?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614416"/>
            <a:ext cx="114300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72414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1B3E"/>
                </a:solidFill>
              </a:rPr>
              <a:t>8   O Desafio Itaú Asset Management — critérios e roadmap do Intensivão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9728"/>
            <a:ext cx="11640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O Ecossistema Financeiro 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8368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Onde o capital é alocado e qual a função de cada classe de ativo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O sistema financeiro canaliza poupança para investimentos produtivos. Cada classe de ativo representa um contrato diferente de risco e retorno entre quem poupa e quem precisa de capital.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2743200" cy="4434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28800"/>
            <a:ext cx="2743200" cy="384048"/>
          </a:xfrm>
          <a:prstGeom prst="rect">
            <a:avLst/>
          </a:prstGeom>
          <a:solidFill>
            <a:srgbClr val="1A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892807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Renda Fixa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304288"/>
            <a:ext cx="2560320" cy="3867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0D1B3E"/>
                </a:solidFill>
              </a:rPr>
              <a:t>• ~US$ 130 tri globalmente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0D1B3E"/>
                </a:solidFill>
              </a:rPr>
              <a:t>• Governo e empresas tomam empréstimos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0D1B3E"/>
                </a:solidFill>
              </a:rPr>
              <a:t>• Retorno contratual (cupom + principal)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0D1B3E"/>
                </a:solidFill>
              </a:rPr>
              <a:t>• Risco: crédito, juros, inflação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828800"/>
            <a:ext cx="2743200" cy="4434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828800"/>
            <a:ext cx="2743200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1892807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Renda Variável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2304288"/>
            <a:ext cx="2560320" cy="3867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0D1B3E"/>
                </a:solidFill>
              </a:rPr>
              <a:t>• ~US$ 110 tri em market cap global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0D1B3E"/>
                </a:solidFill>
              </a:rPr>
              <a:t>• Participação no capital de empresas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0D1B3E"/>
                </a:solidFill>
              </a:rPr>
              <a:t>• Equity risk premium histórico ~5% a.a.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0D1B3E"/>
                </a:solidFill>
              </a:rPr>
              <a:t>• Risco: mercado, empresa, setor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59" y="1828800"/>
            <a:ext cx="2743200" cy="4434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59" y="1828800"/>
            <a:ext cx="2743200" cy="384048"/>
          </a:xfrm>
          <a:prstGeom prst="rect">
            <a:avLst/>
          </a:prstGeom>
          <a:solidFill>
            <a:srgbClr val="6C3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8" y="1892807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Derivativos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2304288"/>
            <a:ext cx="2560320" cy="3867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0D1B3E"/>
                </a:solidFill>
              </a:rPr>
              <a:t>• Nocional &gt;US$ 600 tri (BIS, 2024)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0D1B3E"/>
                </a:solidFill>
              </a:rPr>
              <a:t>• Futuros, opções, swaps, forwards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0D1B3E"/>
                </a:solidFill>
              </a:rPr>
              <a:t>• Hedge ou alavancagem de posições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0D1B3E"/>
                </a:solidFill>
              </a:rPr>
              <a:t>• Risco: contraparte, liquidez, 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19" y="1828800"/>
            <a:ext cx="2743200" cy="4434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19" y="1828800"/>
            <a:ext cx="2743200" cy="384048"/>
          </a:xfrm>
          <a:prstGeom prst="rect">
            <a:avLst/>
          </a:prstGeom>
          <a:solidFill>
            <a:srgbClr val="BF6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0847" y="1892807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Alternativos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7" y="2304288"/>
            <a:ext cx="2560320" cy="3867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0D1B3E"/>
                </a:solidFill>
              </a:rPr>
              <a:t>• FIIs, PE, VC, Hedge Funds, Commodities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0D1B3E"/>
                </a:solidFill>
              </a:rPr>
              <a:t>• Baixa correlação com RV e RF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0D1B3E"/>
                </a:solidFill>
              </a:rPr>
              <a:t>• Illiquidity premium como compensação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0D1B3E"/>
                </a:solidFill>
              </a:rPr>
              <a:t>• Risco: liquidez, valuation, lock-up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BIS Quarterly Review (2024); World Bank Financial Development Database (2024); Bodie, Kane &amp; Marcus (2023). Investments, 13ª ed., McGraw-Hill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9728"/>
            <a:ext cx="11640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Renda Fixa — 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8368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O mercado que empresta dinheiro ao governo e às empresas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Ao comprar um título de renda fixa, o investidor empresta capital ao emissor em troca de uma remuneração pré-acordada (cupom) e da devolução do principal no vencimento. O retorno é 'fixo' em estrutura, mas o preço de mercado do título flutua com as taxas de juros.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3639312" cy="4251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3639312" cy="384048"/>
          </a:xfrm>
          <a:prstGeom prst="rect">
            <a:avLst/>
          </a:prstGeom>
          <a:solidFill>
            <a:srgbClr val="1A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984248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Tipos no Brasil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395728"/>
            <a:ext cx="3456432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Tesouro Direto: LTN (pré-fixado), NTN-B (IPCA+), LFT (Selic)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CDB e LCI/LCA: emissor bancário, garantia FGC até R$ 250k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Debêntures: empresas não-financeiras, isenção IR (incentivadas)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CRIs e CRAs: crédito imobiliário e agro, isentos para PF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87952" y="1920240"/>
            <a:ext cx="3639312" cy="4251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87952" y="1920240"/>
            <a:ext cx="3639312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984248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Métricas Essenciais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395728"/>
            <a:ext cx="3456432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Yield to maturity (YTM): retorno total se mantido até vencimento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Duration (Macaulay, 1938): prazo médio ponderado pelos fluxos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Sensibilidade: ΔPreço ≈ −Duration × ΔJuros (modified duration)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Spread de crédito: prêmio exigido acima do risco soberano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0144" y="1920240"/>
            <a:ext cx="3639312" cy="4251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1920240"/>
            <a:ext cx="3639312" cy="384048"/>
          </a:xfrm>
          <a:prstGeom prst="rect">
            <a:avLst/>
          </a:prstGeom>
          <a:solidFill>
            <a:srgbClr val="1A6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1" y="1984248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Risco × Retorno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1" y="2395728"/>
            <a:ext cx="3456432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Tesouro Selic: risco mínimo, retorno CDI (~10,5% a.a. em 2024)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NTN-B longa: proteção inflacionária, alta duration → vol de preço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Debênture high yield: spread 3-8% sobre CDI, risco default real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Regra geral: duration longa + rating baixo = maior volatilidade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Macaulay, F.R. (1938). Some Theoretical Problems Suggested by the Movements of Interest Rates. NBER; Fabozzi, F.J. (2012). The Handbook of Fixed Income Securities, 8ª ed., McGraw-Hill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9728"/>
            <a:ext cx="11640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Renda Variável — 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8368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Por que ações geram retorno superior no longo prazo? O equity risk premium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Uma ação representa fração da propriedade de uma empresa. O acionista tem direito residual sobre os lucros (dividendos) e o patrimônio — mas arca com toda a variabilidade dos resultados. O equity risk premium (ERP) é a compensação exigida por esse risco adicional em relação ao ativo sem risco.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Equity Risk Premium histórico (1900–2023) — retorno real de ações acima dos títulos soberanos: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59152"/>
            <a:ext cx="5440680" cy="1188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EUA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8B4C"/>
                </a:solidFill>
              </a:rPr>
              <a:t>5,5% a.a.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359152"/>
            <a:ext cx="5440680" cy="1188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4231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Brasil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8B4C"/>
                </a:solidFill>
              </a:rPr>
              <a:t>~6,0% a.a.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85032"/>
            <a:ext cx="5440680" cy="1188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Reino Unido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69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8B4C"/>
                </a:solidFill>
              </a:rPr>
              <a:t>4,8% a.a.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685032"/>
            <a:ext cx="5440680" cy="1188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74903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Média Global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069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8B4C"/>
                </a:solidFill>
              </a:rPr>
              <a:t>~5,0% a.a.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749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Veículos de investimento: ações individuais (B3/BVMF), ETFs (BOVA11, IVVB11), BDRs, fundos de ações.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6811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Riscos: mercado (beta — risco sistemático não diversificável) + empresa (risco idiossincrático, diversificável).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Mehra, R. &amp; Prescott, E.C. (1985). The Equity Premium: A Puzzle. J. of Monetary Economics, 15(2), 145–161; Dimson, Marsh &amp; Staunton (2002). Triumph of the Optimists. Princeton University Press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9728"/>
            <a:ext cx="11640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Derivativos &amp; Ativos Alternativos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8368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Instrumentos para gestão de risco e diversificação além do mercado tradicional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48640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486400" cy="384048"/>
          </a:xfrm>
          <a:prstGeom prst="rect">
            <a:avLst/>
          </a:prstGeom>
          <a:solidFill>
            <a:srgbClr val="6C3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4358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Derivativos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583"/>
                </a:solidFill>
              </a:rPr>
              <a:t>Futuros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84248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Obrigação contratual de comprar ou vender um ativo-objeto em data e preço futuros definidos hoje. Principal uso: hedge de câmbio (exportadores), juros (Duration hedge) e commodities (agro). Negociados em bolsa (B3), com ajuste diário de margem.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3639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583"/>
                </a:solidFill>
              </a:rPr>
              <a:t>Opções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2900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Direito (não obrigação) de comprar (call) ou vender (put) um ativo a preço fixado (strike) até ou na data de vencimento. Custo: prêmio pago na entrada. Apreçamento: modelo de Black &amp; Scholes (1973) e extensões (árvores binomiais, Monte Carlo).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8114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583"/>
                </a:solidFill>
              </a:rPr>
              <a:t>Swaps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73752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Acordo de troca periódica de fluxos financeiros entre duas partes. Exemplo clássico: CDI × taxa pré-fixada. Empresas com passivo indexado ao IPCA usam swap para converter para CDI. Negociados OTC via B3/CETIP com câmaras de compensação.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6792" y="1188720"/>
            <a:ext cx="5486400" cy="5440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36792" y="1188720"/>
            <a:ext cx="5486400" cy="384048"/>
          </a:xfrm>
          <a:prstGeom prst="rect">
            <a:avLst/>
          </a:prstGeom>
          <a:solidFill>
            <a:srgbClr val="BF6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24358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Ativos Alternativos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16916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6A02"/>
                </a:solidFill>
              </a:rPr>
              <a:t>FIIs — Fundos de Investimento Imobiliário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1984248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Cotas de portfólios de imóveis (lajes corporativas, shoppings, galpões logísticos). Distribuem rendimentos mensais (isentos de IR para PF). Negociados na B3 como ações. Métricas: dividend yield, cap rate, vacância física e financeira.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313639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6A02"/>
                </a:solidFill>
              </a:rPr>
              <a:t>Private Equity e Venture Capital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42900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Participação em empresas de capital fechado. PE: empresas maduras em reestruturação. VC: startups em estágio inicial com potencial de crescimento exponencial. Prêmio de iliquidez: compensação por não poder sair a qualquer momento.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458114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6A02"/>
                </a:solidFill>
              </a:rPr>
              <a:t>Commodities e Ouro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4873752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Ativos reais: petróleo, minério de ferro, soja, milho, ouro. Hedge natural contra inflação. Ouro: store of value em crises (correlação negativa com risco). Acesso via ETFs (OZ1D11), fundos ou contratos futuros na B3.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Black, F. &amp; Scholes, M. (1973). The Pricing of Options and Corporate Liabilities. J. of Political Economy, 81(3), 637–654; ANBIMA (2024). Panorama de Mercado de Capitais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9728"/>
            <a:ext cx="11640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Teoria Moderna de Portfólio (MPT)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8368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A formalização matemática de 'não coloque todos os ovos na mesma cesta'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Harry Markowitz (1952) revolucionou a gestão de investimentos ao mostrar que o que importa não é o risco individual de cada ativo, mas a contribuição ao risco total do portfólio — determinada pelas correlações. Diversificação reduz o risco sem necessariamente reduzir o retorno.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3639312" cy="4251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3639312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984248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Conceito Central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395728"/>
            <a:ext cx="3456432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Retorno esperado: E[Rp] = Σ wᵢ · E[Rᵢ]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Variância: σ²p = Σᵢ Σⱼ wᵢ wⱼ σᵢⱼ (covariâncias importam!)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Covariância negativa → diversificação elimina risco idiossincrático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Fronteira eficiente: máximo retorno para cada nível de risco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Portfólio de mínima variância: mínimo risco independente de retorno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87952" y="1920240"/>
            <a:ext cx="3639312" cy="4251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87952" y="1920240"/>
            <a:ext cx="3639312" cy="384048"/>
          </a:xfrm>
          <a:prstGeom prst="rect">
            <a:avLst/>
          </a:prstGeom>
          <a:solidFill>
            <a:srgbClr val="1A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984248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CAPM — Extensão do 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395728"/>
            <a:ext cx="3456432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Sharpe (1964): em equilíbrio geral, todos têm o portfólio de mercado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E[Ri] = Rf + βi · (E[Rm] − Rf)  — equação do CAPM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Beta: medida de risco sistemático (não diversificável)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α (alpha) = retorno acima do previsto pelo CAPM dado o beta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Fundamento do custo de capital (WACC) em valuation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0144" y="1920240"/>
            <a:ext cx="3639312" cy="4251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1920240"/>
            <a:ext cx="3639312" cy="384048"/>
          </a:xfrm>
          <a:prstGeom prst="rect">
            <a:avLst/>
          </a:prstGeom>
          <a:solidFill>
            <a:srgbClr val="B0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1" y="1984248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Limitações Práticas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1" y="2395728"/>
            <a:ext cx="3456432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Parâmetros estimados com erro amostral significativo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Portfólio ótimo instável: pequena mudança de input → grande rotação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Retornos não gaussianos: fat tails subestimam risco de cauda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DeMiguel et al. (2009): equal-weight (1/N) supera MV fora da amostra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• Na prática: restrições e regularização são necessárias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Markowitz, H. (1952). Portfolio Selection. J. of Finance, 7(1), 77–91; Sharpe, W.F. (1964). Capital Asset Prices. J. of Finance, 19(3), 425–442; DeMiguel, Garlappi &amp; Uppal (2009). Rev. of Financial Studies, 22(5), 1915–1953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9728"/>
            <a:ext cx="11640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A Hipótese dos Mercados Eficientes (HME)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8368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Se preços refletem toda informação disponível, estratégias ativas não geram alfa — mas será verdade?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Eugene Fama (1970) definiu que um mercado é eficiente quando os preços dos ativos incorporam instantaneamente toda a informação relevante, tornando impossível obter retorno acima do risco de forma consistente. Fama propôs três formas de eficiência, com implicações distintas.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01952"/>
            <a:ext cx="3639312" cy="43159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01952"/>
            <a:ext cx="3639312" cy="384048"/>
          </a:xfrm>
          <a:prstGeom prst="rect">
            <a:avLst/>
          </a:prstGeom>
          <a:solidFill>
            <a:srgbClr val="1A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47672"/>
            <a:ext cx="3456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Forma Fraca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59152"/>
            <a:ext cx="3456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Preços incorporam todo o histórico de preços e volumes negociados.
Implicação direta: análise técnica (chartismo, suporte/resistência) não gera alfa sistemático — toda informação passada já está no preço.
Evidência: autocorrelação de curto prazo existe (Fama, 1988), mas é pequena e dissipada por custos de transação.
Status: amplamente suportada para horizontes de médio/longo prazo.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59552"/>
            <a:ext cx="34564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Fama (1965, 1988)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1901952"/>
            <a:ext cx="3639312" cy="43159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87952" y="1901952"/>
            <a:ext cx="3639312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0831" y="1947672"/>
            <a:ext cx="3456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Forma Semi-forte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1" y="2359152"/>
            <a:ext cx="3456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Preços refletem toda informação publicamente disponível: balanços, releases de resultados, dados macro, notícias e análises.
Implicação: análise fundamentalista não supera o mercado de forma consistente após ajuste por risco.
Evidência: event studies mostram ajuste rápido, mas anomalias como value e momentum contradizem a forma semi-forte.
Status: parcialmente suportada — anomalias são documentadas.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1" y="5559552"/>
            <a:ext cx="34564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Fama &amp; French (1993); Ball &amp; Brown (1968)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0144" y="1901952"/>
            <a:ext cx="3639312" cy="43159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1901952"/>
            <a:ext cx="3639312" cy="384048"/>
          </a:xfrm>
          <a:prstGeom prst="rect">
            <a:avLst/>
          </a:prstGeom>
          <a:solidFill>
            <a:srgbClr val="B0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3" y="1947672"/>
            <a:ext cx="3456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Forma Forte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3" y="2359152"/>
            <a:ext cx="3456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Preços refletem até informação privada (insider information) — gestores com acesso privilegiado também não gerariam alfa.
Implicação: nenhum agente, em nenhuma circunstância, bate o mercado de forma consistente.
Evidência: REJEITADA empiricamente. Insider trading gera retorno anormal antes de anúncios relevantes.
Status: não suportada — reguladores proíbem insider trading exatamente porque ele funciona.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3" y="5559552"/>
            <a:ext cx="34564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Seyhun (1986); Jeng, Metrick &amp; Zeckhauser (2003)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Fama, E.F. (1970). Efficient Capital Markets: A Review of Theory and Empirical Work. J. of Finance, 25(2), 383–417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9728"/>
            <a:ext cx="11640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Anomalias de Mercado — O que Quebra a HME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8368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Padrões sistemáticos de retorno que persistem após controle de risco e custos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Se os mercados fossem perfeitamente eficientes, nenhum padrão sistemático deveria sobreviver após ser descoberto (a descoberta eliminaria a anomalia). Décadas de pesquisa documentaram anomalias robustas — fatores que geram prêmio de retorno mesmo em mercados desenvolvidos.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64792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" y="1874519"/>
            <a:ext cx="2267712" cy="43159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8" y="1874519"/>
            <a:ext cx="2267712" cy="502920"/>
          </a:xfrm>
          <a:prstGeom prst="rect">
            <a:avLst/>
          </a:prstGeom>
          <a:solidFill>
            <a:srgbClr val="1A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901952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Size
(Tamanho)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441448"/>
            <a:ext cx="2084831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Small caps &gt; large caps.
Banz (1981) first to document.
Risco de liquidez e informação assimétrica.
Retorno extra ~3% a.a. histórico (EUA).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5120640"/>
            <a:ext cx="2084831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Banz (1981)
Fama &amp; French (1993)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874519"/>
            <a:ext cx="2267712" cy="43159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1874519"/>
            <a:ext cx="2267712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1901952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Value
(Valor)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441448"/>
            <a:ext cx="2084831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Ações baratas (P/B, P/L baixo) &gt; caras.
Graham &amp; Dodd (1934) prática.
Fama &amp; French (1993) formalização.
Risco de distress financeiro.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120640"/>
            <a:ext cx="2084831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Fama &amp; French (1993)
Lakonishok et al. (1994)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10912" y="1874519"/>
            <a:ext cx="2267712" cy="43159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10912" y="1874519"/>
            <a:ext cx="226771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02352" y="1901952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Momentum
★ Nossa estratégia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2" y="2441448"/>
            <a:ext cx="2084831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Vencedores recentes continuam vencendo.
Sinal 12-1 meses é o canônico.
Persiste em 40+ países e asset classes.
Underreaction comportamental.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5120640"/>
            <a:ext cx="2084831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Jegadeesh &amp; Titman (1993)
Carhart (1997)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0064" y="1874519"/>
            <a:ext cx="2267712" cy="43159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70064" y="1874519"/>
            <a:ext cx="2267712" cy="502920"/>
          </a:xfrm>
          <a:prstGeom prst="rect">
            <a:avLst/>
          </a:prstGeom>
          <a:solidFill>
            <a:srgbClr val="6C3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61504" y="1901952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Quality
(Qualidade)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2441448"/>
            <a:ext cx="2084831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Empresas lucrativas e estáveis geram mais.
Mercado subprecifica persistência de lucros.
Fator QMJ: Quality Minus Junk.
Novy-Marx (2013) formalização.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1504" y="5120640"/>
            <a:ext cx="2084831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Novy-Marx (2013)
Fama &amp; French (2015)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29216" y="1874519"/>
            <a:ext cx="2267712" cy="43159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29216" y="1874519"/>
            <a:ext cx="2267712" cy="502920"/>
          </a:xfrm>
          <a:prstGeom prst="rect">
            <a:avLst/>
          </a:prstGeom>
          <a:solidFill>
            <a:srgbClr val="BF6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0656" y="1901952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Low Vol
(Paradoxo)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0656" y="2441448"/>
            <a:ext cx="2084831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Ações menos voláteis &gt; mais voláteis.
VIOLA a relação risco-retorno do CAPM.
Explicação: restrições de alavancagem.
Frazzini &amp; Pedersen (2014).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0656" y="5120640"/>
            <a:ext cx="2084831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Black (1972)
Frazzini &amp; Pedersen (2014)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Fama &amp; French (1993). Common Risk Factors in Returns on Stocks and Bonds. J. of Financial Economics, 33(1), 3–56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9728"/>
            <a:ext cx="11640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Factor Investing — Do Stock-Picking a Fatores 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8368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A evolução da gestão ativa: substituir julgamento subjetivo por regras replicáveis e auditáveis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Factor investing (smart beta) constrói portfólios expostos a fatores de risco documentados de forma sistemática e transparente — capturando prêmios de retorno sem depender de previsão de mercado ou habilidades individuais de stock-picking. É a base da gestão quantitativa moderna.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01368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Evolução dos modelos de fatores: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0280"/>
            <a:ext cx="2240280" cy="1691640"/>
          </a:xfrm>
          <a:prstGeom prst="rect">
            <a:avLst/>
          </a:prstGeom>
          <a:solidFill>
            <a:srgbClr val="1A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042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1960s–1970s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70048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CAPM
1 fator: mercado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79" y="2240280"/>
            <a:ext cx="2240280" cy="1691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39" y="23042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1990s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2670048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Fama-French
3 fatores: mercado + size + 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240280"/>
            <a:ext cx="2240280" cy="1691640"/>
          </a:xfrm>
          <a:prstGeom prst="rect">
            <a:avLst/>
          </a:prstGeom>
          <a:solidFill>
            <a:srgbClr val="6C3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59" y="23042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1997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59" y="2670048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Carhart
4 fatores: + momentum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19" y="2240280"/>
            <a:ext cx="2240280" cy="1691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23042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670048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Fama-French 5
5 fatores: + profitability + investment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2240280"/>
            <a:ext cx="2240280" cy="1691640"/>
          </a:xfrm>
          <a:prstGeom prst="rect">
            <a:avLst/>
          </a:prstGeom>
          <a:solidFill>
            <a:srgbClr val="BF6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800" y="23042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2010s–hoje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670048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Multi-fator + ML
Alternative data, nowcasting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4164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Por que fatores funcionam? Três hipóteses complementares: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407408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• Risco compensado: o fator representa risco econômico real (ex.: distress, liquidez, duration)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• Comportamento: investidores sistematicamente erram por vieses cognitivos (overconfidence, ancoragem)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• Fricções estruturais: restrições institucionais (alavancagem, benchmark) criam oportunidades persistentes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041648"/>
            <a:ext cx="548640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13308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Nosso Posicionamento: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498848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Exploramos o fator momentum no IBOVESPA. A estratégia é sistemática, baseada em regra clara (sinal 12-1), backtestável com dados públicos e defensável com referências acadêmicas primárias — exatamente o que o júri do Desafio Itaú avalia.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Ang, A. (2014). Asset Management: A Systematic Approach to Factor Investing. Oxford UP; Carhart, M. (1997). On Persistence in Mutual Fund Performance. J. of Finance, 52(1), 57–82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9728"/>
            <a:ext cx="11640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O Efeito Momentum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8368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O prêmio de risco mais robusto e mais controverso das finanças quantitativas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Jegadeesh &amp; Titman (1993) demonstraram que comprar as ações vencedoras dos últimos 12 meses e vender as perdedoras gera retorno anormal significativo nos próximos 3–12 meses. O resultado foi replicado em mais de 40 países e múltiplas classes de ativos.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01368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566928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5669280" cy="365760"/>
          </a:xfrm>
          <a:prstGeom prst="rect">
            <a:avLst/>
          </a:prstGeom>
          <a:solidFill>
            <a:srgbClr val="1A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7510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Definição Formal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Cross-sectional momentum: em cada data de rebalanceamento, ranquear todos os ativos do universo por seu retorno acumulado nos últimos J meses (excluindo o mais recente — 'skip-1 month'). Comprar os N melhores (winners) e vender/evitar os N piores (losers). Nossa implementação: J=11 meses de sinal + 1 mês de skip = sinal '12-1'.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5876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Jegadeesh &amp; Titman (1993)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920240"/>
            <a:ext cx="566928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920240"/>
            <a:ext cx="5669280" cy="3657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7510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Parâmetros Canônicos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77440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J = 3 a 12 meses de formação do sinal (mais comum: 12-1)
K = 1 a 6 meses de holding period (rebalanceamento)
Skip: 1 mês (evita efeito de reversão de curto prazo / microestrutura)
Retorno bruto histórico nos EUA: ~1,0% a.m. (12% a.a.) — antes dos custos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85876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Jegadeesh &amp; Titman (1993, 2001)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343400"/>
            <a:ext cx="566928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343400"/>
            <a:ext cx="5669280" cy="365760"/>
          </a:xfrm>
          <a:prstGeom prst="rect">
            <a:avLst/>
          </a:prstGeom>
          <a:solidFill>
            <a:srgbClr val="6C3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39826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Robustez Global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00600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Rouwenhorst (1998): confirmado em 12 países europeus, mesmo padrão
Asness, Moskowitz &amp; Pedersen (2013): funciona em ações, bonds, câmbio, commodities
Griffin et al. (2003): presente em todos os continentes incluindo mercados emergentes
Hou et al. (2023): sobrevive à replication crisis — p-value &lt; 0.001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28192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Asness, Moskowitz &amp; Pedersen (2013)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4343400"/>
            <a:ext cx="566928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4343400"/>
            <a:ext cx="5669280" cy="365760"/>
          </a:xfrm>
          <a:prstGeom prst="rect">
            <a:avLst/>
          </a:prstGeom>
          <a:solidFill>
            <a:srgbClr val="BF6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39826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Time-series vs Cross-sectional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800600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Time-series (absoluto): comprar ativo que gerou retorno positivo no período, vender/sair do ativo que gerou retorno negativo — cada ativo vs. si mesmo.
Cross-sectional (relativo): ranquear ativos entre si — comprar melhores, vender piores do universo. Menos sensível ao nível geral do mercado.
Nossa escolha: cross-sectional (mais robusto e mais citado).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28192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Moskowitz, Ooi &amp; Pedersen (2012)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Jegadeesh, N. &amp; Titman, S. (1993). Returns to Buying Winners and Selling Losers. J. of Finance, 48(1), 65–91. | Asness, Moskowitz &amp; Pedersen (2013). J. of Finance, 68(3), 929–985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9728"/>
            <a:ext cx="11640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Por que o Momentum Persiste? — Behavioral 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8368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Três mecanismos comportamentais que impedem a arbitragem imediata do prêmio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Se os mercados fossem perfeitamente racionais, o momentum desapareceria assim que fosse descoberto (arbitragem eliminaria o prêmio). A literatura de finanças comportamentais explica sua persistência por vieses cognitivos sistemáticos que não são arbitrável sem custo e risco.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64792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74519"/>
            <a:ext cx="3794760" cy="43159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874519"/>
            <a:ext cx="379476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Underreaction a Notícias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31720"/>
            <a:ext cx="3611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Mecanismo: investidores atualizam suas crenças muito lentamente ao receber novas informações relevantes (ancoragem + conservadorismo cognitivo).
Resultado: boas notícias são gradualmente incorporadas ao preço ao longo de meses, gerando tendência de preço persistente mesmo após o anúncio.
Modelo formal: Hong &amp; Stein (1999) propõem dois grupos — newswatchers (processam fundamental) e momentum traders (seguem preço). Nenhum processa toda a informação → momentum emerge no equilíbrio.
Evidência: post-earnings drift — preços continuam a subir por meses após surpresa positiva nos resultados (Ball &amp; Brown, 1968).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330952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Hong &amp; Stein (1999); Barberis, Shleifer &amp; Vishny (1998)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1874519"/>
            <a:ext cx="3794760" cy="43159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1874519"/>
            <a:ext cx="3794760" cy="384048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192024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Efeito Disposição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331720"/>
            <a:ext cx="3611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Mecanismo: investidores têm aversão assimétrica a perdas (prospect theory de Kahneman &amp; Tversky, 1979). Tendem a vender ganhadores cedo demais ('travar lucro') e segurar perdedores por tempo demais ('esperando recuperar').
Resultado: vencedores ficam subprecificados por mais tempo do que deveriam (oferta precoce os deprime), perdedores ficam sobreprecificados (demanda artificial os sustenta) → momentum no cross-section.
Modelo formal: Grinblatt &amp; Han (2005) mostram que disposition effect gera autocorrelação de retornos em equilíbrio.
Evidência: ações com maior ganho de capital latente têm momentum mais forte.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5330952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Shefrin &amp; Statman (1985); Grinblatt &amp; Han (2005)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0456" y="1874519"/>
            <a:ext cx="3794760" cy="43159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0456" y="1874519"/>
            <a:ext cx="3794760" cy="384048"/>
          </a:xfrm>
          <a:prstGeom prst="rect">
            <a:avLst/>
          </a:prstGeom>
          <a:solidFill>
            <a:srgbClr val="168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03336" y="192024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Herding e Momentum Cascade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3336" y="2331720"/>
            <a:ext cx="3611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Mecanismo: gestores institucionais imitam uns aos outros por risco reputacional — desviar do consenso é arriscado para a carreira mesmo que seja a decisão correta. Resultado: capital flui para vencedores recentes de forma auto-reforçada.
Resultado: tendências de preço se amplificam além do fundamento econômico, criando overshooting que eventualmente reverte — explicando a reversão de longo prazo (De Bondt &amp; Thaler, 1985) que coexiste com momentum de médio prazo.
Modelo formal: Scharfstein &amp; Stein (1990) — herding pode ser racional para o gestor individualmente mesmo sendo irracional para o mercado agregado.
Evidência: gestores de fundos compram ações que já subiram (Grinblatt et al., 1995).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5330952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Scharfstein &amp; Stein (1990); Daniel, Hirshleifer &amp; Subrahmanyam (1998)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Hong, H. &amp; Stein, J. (1999). J. of Finance, 54(6), 2143–2184; Kahneman, D. &amp; Tversky, A. (1979). Prospect Theory. Econometrica, 47(2), 263–291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9728"/>
            <a:ext cx="11640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Momentum no Brasil — Evidência Empírica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8368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O efeito existe no IBOVESPA? Particularidades do mercado brasileiro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A literatura internacional é robusta, mas particularidades do mercado brasileiro — menor número de ações, alta volatilidade macroeconômica, turnover do índice, e custo de transação mais alto — levantam questões sobre a transposição direta dos resultados dos EUA.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64792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7223760" cy="43159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O que a pesquisa acadêmica brasileira encontrou: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59152"/>
            <a:ext cx="6949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• Mussa et al. (2012): momentum de 6 e 12 meses é estatisticamente significativo no mercado acionário brasileiro para o período 1995–2008 (BOVESPA)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• Moreira &amp; Mussa (2010): estratégia 12-1 gera ~1,5% a.m. bruto de custos, com concentração de performance em períodos de baixa volatilidade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• Croteu et al. (2019): momentum mais fraco (às vezes reverso) em períodos de crise macroeconômica (2002, 2008, 2014–2016) — risco de crash é real no Brasil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• Conclusão consensual: o efeito é real mas menos estável que nos EUA — gestão de risco rigorosa e walk-forward são obrigatórios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• Amostra pequena (~70–80 ações) exige cautela estatística: p-values são inflados por data snooping (múltiplos testes — nosso tema da Aula 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874519"/>
            <a:ext cx="4023360" cy="43159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93852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Particularidades do Brasil: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377440"/>
            <a:ext cx="3657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F0F4F8"/>
                </a:solidFill>
              </a:rPr>
              <a:t>• ~80 ações (vs. ~3.000 nos EUA)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0F4F8"/>
                </a:solidFill>
              </a:rPr>
              <a:t>• IBOVESPA reconstitui a cada 4 meses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0F4F8"/>
                </a:solidFill>
              </a:rPr>
              <a:t>• Muitas ações com spread bid-ask alto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0F4F8"/>
                </a:solidFill>
              </a:rPr>
              <a:t>• Selic e câmbio afetam mais que nos EUA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0F4F8"/>
                </a:solidFill>
              </a:rPr>
              <a:t>• Custo: corretagem + B3 fee + IR (15%)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0F4F8"/>
                </a:solidFill>
              </a:rPr>
              <a:t>• Custo de aluguel para posições vendidas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F0F4F8"/>
                </a:solidFill>
              </a:rPr>
              <a:t>• Implicação: backtest com custos reais é obrigatório — não opcional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Mussa, A. et al. (2012). A Estratégia de Momento no Mercado Acionário Brasileiro. Rev. de Contabilidade &amp; Finanças, 23(58), 42–53; Rouwenhorst (1998). SSRN Working Paper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9728"/>
            <a:ext cx="11640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O Desafio Quant AI — Itaú Asset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8368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Contexto da competição, critérios de avaliação e o que diferencia equipes ganhadoras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486400" cy="54589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O Desafio: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200">
                <a:solidFill>
                  <a:srgbClr val="0D1B3E"/>
                </a:solidFill>
              </a:rPr>
              <a:t>• Competição universitária patrocinada pela Itaú Asset Management, uma das maiores gestoras do Brasil (&gt;R$ 700 bi sob gestão)</a:t>
            </a:r>
          </a:p>
          <a:p>
            <a:pPr>
              <a:spcBef>
                <a:spcPts val="900"/>
              </a:spcBef>
            </a:pPr>
            <a:r>
              <a:rPr sz="1200">
                <a:solidFill>
                  <a:srgbClr val="0D1B3E"/>
                </a:solidFill>
              </a:rPr>
              <a:t>• Participantes: equipes de graduação e pós-graduação brasileiras, avaliadas por profissionais sênior da indústria</a:t>
            </a:r>
          </a:p>
          <a:p>
            <a:pPr>
              <a:spcBef>
                <a:spcPts val="900"/>
              </a:spcBef>
            </a:pPr>
            <a:r>
              <a:rPr sz="1200">
                <a:solidFill>
                  <a:srgbClr val="0D1B3E"/>
                </a:solidFill>
              </a:rPr>
              <a:t>• Objetivo: desenvolver uma estratégia quantitativa completa — da hipótese econômica ao relatório técnico final</a:t>
            </a:r>
          </a:p>
          <a:p>
            <a:pPr>
              <a:spcBef>
                <a:spcPts val="900"/>
              </a:spcBef>
            </a:pPr>
            <a:r>
              <a:rPr sz="1200">
                <a:solidFill>
                  <a:srgbClr val="0D1B3E"/>
                </a:solidFill>
              </a:rPr>
              <a:t>• Entregável: relatório técnico escrito + apresentação oral de 20 min + Q&amp;A com o júri</a:t>
            </a:r>
          </a:p>
          <a:p>
            <a:pPr>
              <a:spcBef>
                <a:spcPts val="900"/>
              </a:spcBef>
            </a:pPr>
            <a:r>
              <a:rPr sz="1200">
                <a:solidFill>
                  <a:srgbClr val="0D1B3E"/>
                </a:solidFill>
              </a:rPr>
              <a:t>• O que diferencia: rigor metodológico e capacidade de defender cada escolha com fundamento econômico e evidência estatística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188720"/>
            <a:ext cx="5577840" cy="54589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618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Critérios de Avaliação: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719072"/>
            <a:ext cx="5394960" cy="694944"/>
          </a:xfrm>
          <a:prstGeom prst="rect">
            <a:avLst/>
          </a:prstGeom>
          <a:solidFill>
            <a:srgbClr val="1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Tese de Investimento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84831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0F4F8"/>
                </a:solidFill>
              </a:rPr>
              <a:t>Clareza da hipótese e fundamento econômico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1856231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5A623"/>
                </a:solidFill>
              </a:rPr>
              <a:t>20%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2487168"/>
            <a:ext cx="5394960" cy="694944"/>
          </a:xfrm>
          <a:prstGeom prst="rect">
            <a:avLst/>
          </a:prstGeom>
          <a:solidFill>
            <a:srgbClr val="1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551175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Dados &amp; Metodologia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52927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0F4F8"/>
                </a:solidFill>
              </a:rPr>
              <a:t>Qualidade, limpeza, ausência de look-ahead bias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2624327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5A623"/>
                </a:solidFill>
              </a:rPr>
              <a:t>20%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3255263"/>
            <a:ext cx="5394960" cy="694944"/>
          </a:xfrm>
          <a:prstGeom prst="rect">
            <a:avLst/>
          </a:prstGeom>
          <a:solidFill>
            <a:srgbClr val="1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319271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Rigor do Backtest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621023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0F4F8"/>
                </a:solidFill>
              </a:rPr>
              <a:t>Walk-forward, custos reais, múltiplos cenários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3392423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5A623"/>
                </a:solidFill>
              </a:rPr>
              <a:t>20%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4023360"/>
            <a:ext cx="5394960" cy="694944"/>
          </a:xfrm>
          <a:prstGeom prst="rect">
            <a:avLst/>
          </a:prstGeom>
          <a:solidFill>
            <a:srgbClr val="1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08736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Resultados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3891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0F4F8"/>
                </a:solidFill>
              </a:rPr>
              <a:t>Sharpe, Sortino, drawdown, Calmar, consistência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41605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5A623"/>
                </a:solidFill>
              </a:rPr>
              <a:t>15%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4791456"/>
            <a:ext cx="5394960" cy="694944"/>
          </a:xfrm>
          <a:prstGeom prst="rect">
            <a:avLst/>
          </a:prstGeom>
          <a:solidFill>
            <a:srgbClr val="1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85546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Análise de Risco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15721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0F4F8"/>
                </a:solidFill>
              </a:rPr>
              <a:t>Sensibilidade a parâmetros, cenários de stress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492861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5A623"/>
                </a:solidFill>
              </a:rPr>
              <a:t>15%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5559552"/>
            <a:ext cx="5394960" cy="694944"/>
          </a:xfrm>
          <a:prstGeom prst="rect">
            <a:avLst/>
          </a:prstGeom>
          <a:solidFill>
            <a:srgbClr val="1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56235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Comunicação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92531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0F4F8"/>
                </a:solidFill>
              </a:rPr>
              <a:t>Relatório claro, defesa oral objetiva e convincente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569671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5A623"/>
                </a:solidFill>
              </a:rPr>
              <a:t>10%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Itaú Asset Management. Regulamento do Desafio Quant AI (2025). itauassetmanagement.com.br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9728"/>
            <a:ext cx="11640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Nossa Estratégia — Momentum Cross-Sectional no IBOVESPA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8368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Definição completa: universo, sinal, portfólio, rebalanceamento e validação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07008"/>
            <a:ext cx="3703320" cy="2606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07008"/>
            <a:ext cx="3703320" cy="384048"/>
          </a:xfrm>
          <a:prstGeom prst="rect">
            <a:avLst/>
          </a:prstGeom>
          <a:solidFill>
            <a:srgbClr val="1A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71016"/>
            <a:ext cx="3520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Universo de Ativos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82496"/>
            <a:ext cx="35204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~77 ações constituintes do IBOVESPA
Fonte: Yahoo Finance via yfinance (.SA)
Período: 2014–2024 (10 anos de backtest)
Filtro: ações com dados suficientes em cada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207008"/>
            <a:ext cx="3703320" cy="2606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207008"/>
            <a:ext cx="370332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271016"/>
            <a:ext cx="3520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Sinal (Fator)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682496"/>
            <a:ext cx="35204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Retorno acumulado 11 meses excluindo o mais recente
Python: ret_mensais.shift(2).rolling(11).sum()
Skip-1: evita reversão de microestrutura de curto prazo
Versão v2: vol-ajustado (÷ vol_rolling_63d)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207008"/>
            <a:ext cx="3703320" cy="2606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207008"/>
            <a:ext cx="3703320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271016"/>
            <a:ext cx="35204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Portfólio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682496"/>
            <a:ext cx="35204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Top 10 ações por sinal → long-only
v1: equal-weight (1/N) — simples e robusto
v2: pesos proporcionais ao sinal / vol
Sem posições vendidas (long-only = operacional)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931920"/>
            <a:ext cx="5596128" cy="2697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931920"/>
            <a:ext cx="5596128" cy="384048"/>
          </a:xfrm>
          <a:prstGeom prst="rect">
            <a:avLst/>
          </a:prstGeom>
          <a:solidFill>
            <a:srgbClr val="6C3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95928"/>
            <a:ext cx="5413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Rebalanceamento &amp; Custos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07408"/>
            <a:ext cx="541324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Frequência: mensal (último dia útil)
Hipótese: execução no fechamento seguinte
Custos modelados: 0%, 0,3%, 0,5%, 1,0%/turno
Break-even análisis incluso no backtest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53912" y="3931920"/>
            <a:ext cx="5596128" cy="2697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3912" y="3931920"/>
            <a:ext cx="5596128" cy="384048"/>
          </a:xfrm>
          <a:prstGeom prst="rect">
            <a:avLst/>
          </a:prstGeom>
          <a:solidFill>
            <a:srgbClr val="BF6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3995928"/>
            <a:ext cx="5413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Gestão de Risco &amp; Validação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2" y="4407408"/>
            <a:ext cx="541324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Walk-forward: 48m treino / 12m teste (rolling)
Deflated Sharpe Ratio (Bailey &amp; LdP, 2014)
Análise de sensibilidade: J = 3 a 36 meses
Múltiplos cenários de custo e N de ações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Jegadeesh &amp; Titman (1993); Bailey &amp; López de Prado (2014). The Deflated Sharpe Ratio. Financial Analysts Journal, 70(5), 94–107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9728"/>
            <a:ext cx="11640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Roadmap do Intensivão Quant AI — 10 Aulas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8368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Da coleta de dados ao relatório final: uma estratégia quant completa em 5 semanas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" y="1234440"/>
            <a:ext cx="2212848" cy="2487168"/>
          </a:xfrm>
          <a:prstGeom prst="rect">
            <a:avLst/>
          </a:prstGeom>
          <a:solidFill>
            <a:srgbClr val="FFF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608" y="1234440"/>
            <a:ext cx="2212848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3075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Aula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1325880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A623"/>
                </a:solidFill>
              </a:rPr>
              <a:t>HOJE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783080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Kickoff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194560"/>
            <a:ext cx="20299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Fundamentos de mercado, momentum, estrutura do projeto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3472" y="1234440"/>
            <a:ext cx="2212848" cy="24871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33472" y="1234440"/>
            <a:ext cx="2212848" cy="457200"/>
          </a:xfrm>
          <a:prstGeom prst="rect">
            <a:avLst/>
          </a:prstGeom>
          <a:solidFill>
            <a:srgbClr val="1A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4912" y="13075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Aula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1783080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Dados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4912" y="2194560"/>
            <a:ext cx="20299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yfinance, IBOVESPA, limpeza, parquet, pipeline de dados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74336" y="1234440"/>
            <a:ext cx="2212848" cy="24871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74336" y="1234440"/>
            <a:ext cx="2212848" cy="457200"/>
          </a:xfrm>
          <a:prstGeom prst="rect">
            <a:avLst/>
          </a:prstGeom>
          <a:solidFill>
            <a:srgbClr val="1A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65776" y="13075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Aula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76" y="1783080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EDA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5776" y="2194560"/>
            <a:ext cx="20299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Distribuição de retornos, correlações, estacionariedade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1234440"/>
            <a:ext cx="2212848" cy="24871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1234440"/>
            <a:ext cx="2212848" cy="457200"/>
          </a:xfrm>
          <a:prstGeom prst="rect">
            <a:avLst/>
          </a:prstGeom>
          <a:solidFill>
            <a:srgbClr val="1A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13075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Aula 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1783080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Sinal v1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194560"/>
            <a:ext cx="20299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Momentum 12-1, implementação, diagnóstico do sinal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56064" y="1234440"/>
            <a:ext cx="2212848" cy="24871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56064" y="1234440"/>
            <a:ext cx="2212848" cy="457200"/>
          </a:xfrm>
          <a:prstGeom prst="rect">
            <a:avLst/>
          </a:prstGeom>
          <a:solidFill>
            <a:srgbClr val="1A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47504" y="13075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Aula 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47504" y="1783080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Backtest v1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7504" y="2194560"/>
            <a:ext cx="20299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Portfólio long-only, métricas (Sharpe, MDD, Calmar)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" y="3913632"/>
            <a:ext cx="2212848" cy="24871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2608" y="3913632"/>
            <a:ext cx="2212848" cy="457200"/>
          </a:xfrm>
          <a:prstGeom prst="rect">
            <a:avLst/>
          </a:prstGeom>
          <a:solidFill>
            <a:srgbClr val="6C3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39867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Aula 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4462272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Alocação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4873752"/>
            <a:ext cx="20299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Equal-weight vs vol-weight vs otimização (MV)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33472" y="3913632"/>
            <a:ext cx="2212848" cy="24871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33472" y="3913632"/>
            <a:ext cx="2212848" cy="457200"/>
          </a:xfrm>
          <a:prstGeom prst="rect">
            <a:avLst/>
          </a:prstGeom>
          <a:solidFill>
            <a:srgbClr val="6C3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24912" y="39867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Aula 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24912" y="4462272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Sinal v2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24912" y="4873752"/>
            <a:ext cx="20299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Momentum vol-ajustado, comparação de versões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74336" y="3913632"/>
            <a:ext cx="2212848" cy="24871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74336" y="3913632"/>
            <a:ext cx="2212848" cy="457200"/>
          </a:xfrm>
          <a:prstGeom prst="rect">
            <a:avLst/>
          </a:prstGeom>
          <a:solidFill>
            <a:srgbClr val="6C3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65776" y="39867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Aula 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65776" y="4462272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Backtest Rigoroso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65776" y="4873752"/>
            <a:ext cx="20299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Look-ahead bias, overfitting, DSR, custos, walk-forward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0" y="3913632"/>
            <a:ext cx="2212848" cy="24871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15200" y="3913632"/>
            <a:ext cx="2212848" cy="457200"/>
          </a:xfrm>
          <a:prstGeom prst="rect">
            <a:avLst/>
          </a:prstGeom>
          <a:solidFill>
            <a:srgbClr val="6C3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06640" y="39867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Aula 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4462272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GenAI + Análise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4873752"/>
            <a:ext cx="20299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API Anthropic, prompt engineering, rascunho do relatório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56064" y="3913632"/>
            <a:ext cx="2212848" cy="24871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56064" y="3913632"/>
            <a:ext cx="2212848" cy="457200"/>
          </a:xfrm>
          <a:prstGeom prst="rect">
            <a:avLst/>
          </a:prstGeom>
          <a:solidFill>
            <a:srgbClr val="6C3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47504" y="39867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Aula 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47504" y="4462272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Relatório+Defesa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47504" y="4873752"/>
            <a:ext cx="20299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Tear sheet, rubrica de banca, simulação de defesa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9728"/>
            <a:ext cx="116403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58368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Leitura recomendada — todos disponíveis no Google Scholar ou SSRN (acesso aberto)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6692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950">
                <a:solidFill>
                  <a:srgbClr val="0D1B3E"/>
                </a:solidFill>
              </a:rPr>
              <a:t>1. Markowitz, H. (1952). Portfolio Selection. The Journal of Finance, 7(1), 77–91.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0D1B3E"/>
                </a:solidFill>
              </a:rPr>
              <a:t>2. Sharpe, W.F. (1964). Capital Asset Prices: A Theory of Market Equilibrium Under Conditions of Risk. J. of Finance, 19(3), 425–442.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0D1B3E"/>
                </a:solidFill>
              </a:rPr>
              <a:t>3. Black, F. &amp; Scholes, M. (1973). The Pricing of Options and Corporate Liabilities. Journal of Political Economy, 81(3), 637–654.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0D1B3E"/>
                </a:solidFill>
              </a:rPr>
              <a:t>4. Fama, E.F. (1970). Efficient Capital Markets: A Review of Theory and Empirical Work. Journal of Finance, 25(2), 383–417.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0D1B3E"/>
                </a:solidFill>
              </a:rPr>
              <a:t>5. Banz, R.W. (1981). The Relationship Between Return and Market Value of Common Stocks. Journal of Financial Economics, 9(1), 3–18.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0D1B3E"/>
                </a:solidFill>
              </a:rPr>
              <a:t>6. Mehra, R. &amp; Prescott, E.C. (1985). The Equity Premium: A Puzzle. Journal of Monetary Economics, 15(2), 145–161.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0D1B3E"/>
                </a:solidFill>
              </a:rPr>
              <a:t>7. Kahneman, D. &amp; Tversky, A. (1979). Prospect Theory: An Analysis of Decision Under Risk. Econometrica, 47(2), 263–291.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0D1B3E"/>
                </a:solidFill>
              </a:rPr>
              <a:t>8. Fama, E.F. &amp; French, K.R. (1993). Common Risk Factors in the Returns on Stocks and Bonds. Journal of Financial Economics, 33(1), 3–56.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0D1B3E"/>
                </a:solidFill>
              </a:rPr>
              <a:t>9. Jegadeesh, N. &amp; Titman, S. (1993). Returns to Buying Winners and Selling Losers: Implications for Stock Market Efficiency. Journal of Finance, 48(1), 65–91.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0D1B3E"/>
                </a:solidFill>
              </a:rPr>
              <a:t>10. Carhart, M.M. (1997). On Persistence in Mutual Fund Performance. Journal of Finance, 52(1), 57–82.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188720"/>
            <a:ext cx="56692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950">
                <a:solidFill>
                  <a:srgbClr val="0D1B3E"/>
                </a:solidFill>
              </a:rPr>
              <a:t>11. Barberis, N., Shleifer, A. &amp; Vishny, R. (1998). A Model of Investor Sentiment. Journal of Financial Economics, 49(3), 307–343.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0D1B3E"/>
                </a:solidFill>
              </a:rPr>
              <a:t>12. Hong, H. &amp; Stein, J.C. (1999). A Unified Theory of Underreaction, Momentum Trading, and Overreaction. Journal of Finance, 54(6), 2143–2184.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0D1B3E"/>
                </a:solidFill>
              </a:rPr>
              <a:t>13. Rouwenhorst, K.G. (1998). International Momentum Strategies. Journal of Finance, 53(1), 267–284.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0D1B3E"/>
                </a:solidFill>
              </a:rPr>
              <a:t>14. DeMiguel, V., Garlappi, L. &amp; Uppal, R. (2009). Optimal Versus Naive Diversification. Review of Financial Studies, 22(5), 1915–1953.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0D1B3E"/>
                </a:solidFill>
              </a:rPr>
              <a:t>15. Asness, C., Moskowitz, T. &amp; Pedersen, L.H. (2013). Value and Momentum Everywhere. Journal of Finance, 68(3), 929–985.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0D1B3E"/>
                </a:solidFill>
              </a:rPr>
              <a:t>16. Ang, A. (2014). Asset Management: A Systematic Approach to Factor Investing. Oxford University Press.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0D1B3E"/>
                </a:solidFill>
              </a:rPr>
              <a:t>17. Bailey, D.H. &amp; López de Prado, M. (2014). The Deflated Sharpe Ratio: Correcting for Selection Bias, Backtest Overfitting and Non-Normality. Financial Analysts Journal, 70(5), 94–107.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0D1B3E"/>
                </a:solidFill>
              </a:rPr>
              <a:t>18. Mussa, A. et al. (2012). A Estratégia de Momento no Mercado Acionário Brasileiro. Revista de Contabilidade &amp; Finanças, 23(58), 42–53.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0D1B3E"/>
                </a:solidFill>
              </a:rPr>
              <a:t>19. Dimson, E., Marsh, P. &amp; Staunton, M. (2002). Triumph of the Optimists: 101 Years of Global Investment Returns. Princeton University Press.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0D1B3E"/>
                </a:solidFill>
              </a:rPr>
              <a:t>20. Fabozzi, F.J. (2012). The Handbook of Fixed Income Securities, 8ª edição. McGraw-Hill.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