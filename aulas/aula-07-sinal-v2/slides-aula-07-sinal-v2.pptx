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0"/>
            <a:ext cx="1177747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5A623"/>
                </a:solidFill>
              </a:rPr>
              <a:t>Aula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Sinal v2: Momentum Ajustado por Volatilidade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Melhorando o sinal: retorno bruto ignora risco — vol-adjusted momentum corrige isso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889A"/>
                </a:solidFill>
              </a:rPr>
              <a:t>Intensivao Quant AI | ImpactUFSCar |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Nesta aula: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Limitacao do sinal v1: acoes mais arriscadas tem retornos brutos maiores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Volatility-adjusted momentum: dividir o sinal pelo risco historico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Intuicao economica: comparar acoes em base de risco equivalente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Comparacao rigorosa: IC, Sharpe e estabilidade v1 vs v2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Escolha de parametros: janela de volatilidade e impacto no sinal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Estrutura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20 min de teoria + 40 min de live 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5778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Fundamentos (teoria)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Por que retorno bruto e uma comparacao injusta entre acoes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Vol-adjusted momentum: formula e intuicao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Janela de volatilidade: qual o horizonte certo?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Como comparar dois sinais de forma justa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Live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Calcular vol rolling de 63 dias uteis por acao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Construir sinal_v2 = sinal_v1 / vol_rolling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Comparar IC de v1 vs v2 ao longo do tempo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Backtest completo do sinal v2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Tabela comparativa de metricas v1 vs 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Limitacao do Sinal v1 — Retorno Bruto Ignora Risco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Uma acao que subiu 30% com vol de 50% e diferente de uma que subiu 30% com vol de 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O sinal v1 ranqueia acoes pelo retorno absoluto dos ultimos 12-1 meses. Mas acoes mais arriscadas (maior volatilidade) tendem a ter retornos brutos maiores. Ao selecionar as top 10 por retorno bruto, podemos estar selecionando as mais arriscadas — e pagando por esse risco na forma de maior volatilidade do portfolio.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9928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5394960" cy="43708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Exemplo Numerico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40864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Acao A: retorno 12-1 = +40%, vol anual = 60%  →  sinal_v1 = 0,40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Acao B: retorno 12-1 = +30%, vol anual = 20%  →  sinal_v1 = 0,30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Ranking v1: A &gt; B — A entra no portfolio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Mas: A gerou 40%/60% = 0,67 Sharpe-like vs B com 30%/20% = 1,50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Sinal v2 correto: A = 0,40/0,60 = 0,67; B = 0,30/0,20 = 1,50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0D1B3E"/>
                </a:solidFill>
              </a:rPr>
              <a:t>  Ranking v2: B &gt; A — B e mais atraente por unidade de risco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847088"/>
            <a:ext cx="5806440" cy="43708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Sinal v2 — Formula e Implementacao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40864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# Volatilidade rolling 63 dias uteis (anualizada)
vol_rolling = (
    ret_diarios
    .rolling(63)
    .std()
    * np.sqrt(252)
)
# Resampled para frequencia mensal
vol_mensal = vol_rolling.resample('ME').last()
# Sinal vol-ajustado
sinal_v2 = sinal_v1 / vol_mensal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25196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63 dias uteis ~ 3 meses: janela tipica na literatura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rolling na freq diaria: mais dados, estimativa mais estavel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.last() no resample: pega vol mais recente de cada mes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0D1B3E"/>
                </a:solidFill>
              </a:rPr>
              <a:t>  Normalizar apos calcular: pesos somam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Moskowitz, T., Ooi, Y.H. &amp; Pedersen, L.H. (2012). Time Series Momentum. J. of Financial Economics, 104(2), 228–250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Comparando v1 vs v2 — Como Fazer de Forma Justa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Mesmas datas, mesmo benchmark, mesmo periodo — so o sinal muda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Para comparar dois sinais de forma justa, todos os outros elementos devem ser identicos: universo de acoes, esquema de alocacao, periodo de analise, benchmark, e metricas. A unica variavel e o sinal — assim qualquer diferenca de performance e atribuivel a ele.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82496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19656"/>
            <a:ext cx="3639312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19656"/>
            <a:ext cx="3639312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883664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 que Comparar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295144"/>
            <a:ext cx="34564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IC medio e t-stat do IC: poder preditivo bruto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Sharpe, Sortino, MDD, Calmar: qualidade do retorno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Turnover: custo implicito de transacao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Correlacao dos retornos: os sinais concordam?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Estabilidade temporal: qual e mais consistente?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19656"/>
            <a:ext cx="3639312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819656"/>
            <a:ext cx="3639312" cy="384048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883664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Hipoteses do Comparativo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295144"/>
            <a:ext cx="34564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Mesmo universo: top 10 acoes por sinal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Mesma alocacao: equal-weight (isolar efeito do sinal)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Mesmo periodo: datas com dados validos para ambos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Mesmo benchmark: retorno do IBOVESPA (BOVA11 proxy)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Mesmas metricas: funcao calcular_metricas() igual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819656"/>
            <a:ext cx="3639312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819656"/>
            <a:ext cx="3639312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7" y="1883664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 que Esperar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2295144"/>
            <a:ext cx="34564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v2 tende a ter Sharpe ligeiramente superior ao v1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v2 pode ter menor MDD (menos exposicao a acoes muito volateis)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Turnover similar: mudanca e no sinal, nao na selecao de 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Correlacao v1 vs v2 alta (0,7+): sinais concordam na maior parte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Melhora pode ser pequena — o que importa e a direcao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Israel, R., Moskowitz, T. (2013). The Role of Shorting, Firm Size, and Time on Market Anomalies. J. of Financial Economics, 108(2), 275–301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que Vamos Construir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Criterio de conclusao: notebook roda do inicio ao fim sem erros e gera os parquets abaixo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74066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Funcoes e logica que vamos implementar: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calcular_vol_rolling(ret_diarios, janela=63) — std anualizado por acao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calcular_sinal_v2(sinal_v1, vol_mensal) — divisao elemento a elemento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comparar_ic(sinal_v1, sinal_v2, ret_mensais) — IC serie temporal de cada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backtest_sinal(sinal, ret_mensais, n_top=10) — funcao generica reutilizavel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tabela_comparativa(resultados_v1, resultados_v2) — side-by-side formatado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143000"/>
            <a:ext cx="3840480" cy="2377440"/>
          </a:xfrm>
          <a:prstGeom prst="rect">
            <a:avLst/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188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Entradas: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572768"/>
            <a:ext cx="3566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dados/retornos_diarios_limpo.parquet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dados/retornos_mensais_limpo.parquet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dados/sinal_v1.parquet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749039"/>
            <a:ext cx="3840480" cy="2468880"/>
          </a:xfrm>
          <a:prstGeom prst="rect">
            <a:avLst/>
          </a:prstGeom>
          <a:solidFill>
            <a:srgbClr val="EA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7947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Saidas (parquets):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7880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dados/sinal_v2.parquet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dados/pesos_sinal_v2.parquet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dados/retorno_carteira_sinal_v2.parquet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