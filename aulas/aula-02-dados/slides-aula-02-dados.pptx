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3200400"/>
            <a:ext cx="1177747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4114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 i="0">
                <a:solidFill>
                  <a:srgbClr val="F5A623"/>
                </a:solidFill>
              </a:rPr>
              <a:t>Aula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716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Dados: Coleta, Limpeza e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1168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0F4F8"/>
                </a:solidFill>
              </a:rPr>
              <a:t>A fundacao de dados que todas as aulas seguintes vao consumir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8716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7889A"/>
                </a:solidFill>
              </a:rPr>
              <a:t>Intensivao Quant AI | ImpactUFSCar |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832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Nesta aula: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49039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300">
                <a:solidFill>
                  <a:srgbClr val="F0F4F8"/>
                </a:solidFill>
              </a:rPr>
              <a:t>  O IBOVESPA: composicao, criterios de inclusao e ~77 acoes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F0F4F8"/>
                </a:solidFill>
              </a:rPr>
              <a:t>  yfinance: como funciona a coleta automatica de precos historicos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F0F4F8"/>
                </a:solidFill>
              </a:rPr>
              <a:t>  Qualidade de dados: missing values, splits, dividendos e outliers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F0F4F8"/>
                </a:solidFill>
              </a:rPr>
              <a:t>  Parquet: por que e melhor que CSV para series temporais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F0F4F8"/>
                </a:solidFill>
              </a:rPr>
              <a:t>  Pipeline reprodutivel: coletar uma vez, usar em todas as aulas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1440"/>
            <a:ext cx="1168603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Estrutura da Aula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40080"/>
            <a:ext cx="1168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0F4F8"/>
                </a:solidFill>
              </a:rPr>
              <a:t>~30 min de teoria + ~90 min de live coding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43000"/>
            <a:ext cx="5577840" cy="50749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577840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88720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Fundamentos (teoria)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27632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O que e o IBOVESPA e como e composto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Como o yfinance acessa dados do Yahoo Finance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Tipos de problemas em dados financeiros brutos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Por que parquet e o formato certo aqui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43000"/>
            <a:ext cx="5577840" cy="50749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143000"/>
            <a:ext cx="5577840" cy="38404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188720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Live Coding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627632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Download de precos de ~77 acoes (.SA)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Calcular retornos diarios (pct_change)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Agregar para retornos mensais (resample ME)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Tratar NaN, outliers e ajustes corporativos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Salvar 3 parquets para as proximas aulas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1440"/>
            <a:ext cx="1168603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O IBOVESPA — Nosso Universo de Ativos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40080"/>
            <a:ext cx="1168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0F4F8"/>
                </a:solidFill>
              </a:rPr>
              <a:t>Principal indice de acoes do Brasil: criterios de inclusao e implicacoes para o backtest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70432"/>
            <a:ext cx="11247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D1B3E"/>
                </a:solidFill>
              </a:rPr>
              <a:t>O IBOVESPA e o indice de referencia do mercado acionario brasileiro, composto pelas acoes mais liquidas da B3. Sua composicao e revista a cada 4 meses com base em liquidez e presenca em pregao. Usamos a composicao atual como proxy do universo historico.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37360"/>
            <a:ext cx="11247120" cy="274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74519"/>
            <a:ext cx="3639312" cy="431596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874519"/>
            <a:ext cx="3639312" cy="384048"/>
          </a:xfrm>
          <a:prstGeom prst="rect">
            <a:avLst/>
          </a:prstGeom>
          <a:solidFill>
            <a:srgbClr val="1A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1938527"/>
            <a:ext cx="3456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Criterios de Inclusao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2350008"/>
            <a:ext cx="3456432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Negociado em &gt;= 95% dos pregoes do periodo de apuracao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Participacao minima em volume financeiro (threshold definido pela B3)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Preco &gt; R$ 1,00 (nao pode ser penny stock)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Nao pode estar em processo de falencia ou recuperacao judicial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Resultado: ~70-85 acoes dependendo do periodo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1874519"/>
            <a:ext cx="3639312" cy="431596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874519"/>
            <a:ext cx="3639312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79976" y="1938527"/>
            <a:ext cx="3456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Nossa Abordagem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9976" y="2350008"/>
            <a:ext cx="3456432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Lista de ~77 tickers com sufixo .SA (ex: PETR4.SA, VALE3.SA)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Survivorship bias: acoes que saem do indice sao ignoradas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Mitigacao pratica: periodo fixo com tickers historicamente relevantes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Alternativa profissional: usar base point-in-time (Compustat, Refinitiv)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Para o contexto do Desafio: abordagem simplificada e aceitavel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83879" y="1874519"/>
            <a:ext cx="3639312" cy="431596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3879" y="1874519"/>
            <a:ext cx="3639312" cy="384048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3607" y="1938527"/>
            <a:ext cx="3456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Download via yfinance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3607" y="2350008"/>
            <a:ext cx="3456432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yfinance.download(tickers, start, end, auto_adjust=True)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Retorna Adj Close (ajustado por splits e dividendos)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Colunas: ticker; Indice: datetime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Periodo recomendado: 2012-01-01 ate hoje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Cuidado: rate limiting — adicionar delays entre downloads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446520"/>
            <a:ext cx="117317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7889A"/>
                </a:solidFill>
              </a:rPr>
              <a:t>Ref.: B3 (2024). Metodologia do Indice BOVESPA. b3.com.br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1440"/>
            <a:ext cx="1168603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Qualidade de Dados Financeiros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40080"/>
            <a:ext cx="1168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0F4F8"/>
                </a:solidFill>
              </a:rPr>
              <a:t>Cada problema nao tratado e uma fonte de erro que pode invalidar o backtest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7043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D1B3E"/>
                </a:solidFill>
              </a:rPr>
              <a:t>Dados financeiros brutos raramente estao prontos para uso direto. Garbage in, garbage out: um backtest construido sobre dados ruins produz resultados que nao se replicam fora da amostra.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09928"/>
            <a:ext cx="11247120" cy="274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47088"/>
            <a:ext cx="3639312" cy="43434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847088"/>
            <a:ext cx="3639312" cy="38404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1911095"/>
            <a:ext cx="3456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Missing Values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2322576"/>
            <a:ext cx="3456432" cy="3776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Causa: ativo suspenso, feriado local, falha de API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Tratamento: .ffill() para falhas curtas (&lt;=5 dias)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Remover acao se ausencia &gt; 20% do periodo total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Nunca interpolar retornos: cria autocorrelacao artificial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Check: df.isnull().sum() / len(df) por coluna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1847088"/>
            <a:ext cx="3639312" cy="43434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847088"/>
            <a:ext cx="3639312" cy="384048"/>
          </a:xfrm>
          <a:prstGeom prst="rect">
            <a:avLst/>
          </a:prstGeom>
          <a:solidFill>
            <a:srgbClr val="1A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79976" y="1911095"/>
            <a:ext cx="3456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Ajustes Corporativos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9976" y="2322576"/>
            <a:ext cx="3456432" cy="3776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Split: 1 acao vira N — preco cai mas retorno nao muda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Dividendo: reduz preco na data ex (nao e perda real)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Solucao: usar auto_adjust=True no yfinance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Adj Close incorpora todos os ajustes historicos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Validar: retorno acumulado deve ser consistente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83879" y="1847088"/>
            <a:ext cx="3639312" cy="43434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3879" y="1847088"/>
            <a:ext cx="3639312" cy="384048"/>
          </a:xfrm>
          <a:prstGeom prst="rect">
            <a:avLst/>
          </a:prstGeom>
          <a:solidFill>
            <a:srgbClr val="BF6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3607" y="1911095"/>
            <a:ext cx="3456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Outliers e Erros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3607" y="2322576"/>
            <a:ext cx="3456432" cy="3776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Retornos de +200% ou -80% em um mes: quase sempre erro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Deteccao: filtrar |retorno_mensal| &gt; 50%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Validar manualmente cada outlier identificado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Remover o dado, nao a acao inteira (se for pontual)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Registrar todas as limpezas feitas (log de decisoes)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446520"/>
            <a:ext cx="117317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7889A"/>
                </a:solidFill>
              </a:rPr>
              <a:t>Ref.: Lopez de Prado, M. (2018). Advances in Financial Machine Learning, Cap. 2. Wiley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1440"/>
            <a:ext cx="1168603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Pipeline de Dados — Arquitetura do Projeto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40080"/>
            <a:ext cx="1168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0F4F8"/>
                </a:solidFill>
              </a:rPr>
              <a:t>Rodar uma vez, reutilizar em todas as aulas — reproducibilidade e velocidade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737360"/>
            <a:ext cx="2743200" cy="23774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01368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1. Download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40280"/>
            <a:ext cx="2468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yfinance.download()
~77 tickers x ~3.000 dias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79" y="26974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D1B3E"/>
                </a:solidFill>
              </a:rPr>
              <a:t>&gt;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1737360"/>
            <a:ext cx="2743200" cy="2377440"/>
          </a:xfrm>
          <a:prstGeom prst="rect">
            <a:avLst/>
          </a:prstGeom>
          <a:solidFill>
            <a:srgbClr val="1A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7288" y="1801368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2. Limpeza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7288" y="2240280"/>
            <a:ext cx="2468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NaN, outliers
Adj Close verificado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9048" y="26974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D1B3E"/>
                </a:solidFill>
              </a:rPr>
              <a:t>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54496" y="1737360"/>
            <a:ext cx="2743200" cy="237744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1656" y="1801368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3. Retornos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91656" y="2240280"/>
            <a:ext cx="2468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ret_diarios = pct_change()
ret_mensais = resample('ME').last()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43416" y="26974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D1B3E"/>
                </a:solidFill>
              </a:rPr>
              <a:t>&gt;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98864" y="1737360"/>
            <a:ext cx="2743200" cy="23774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36024" y="1801368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4. Parquet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36024" y="2240280"/>
            <a:ext cx="2468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to_parquet(snappy)
Leitura em &lt;1s nas proximas aulas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251960"/>
            <a:ext cx="11430000" cy="274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3708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</a:rPr>
              <a:t>Por que Parquet e nao CSV?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736592"/>
            <a:ext cx="5394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300">
                <a:solidFill>
                  <a:srgbClr val="0D1B3E"/>
                </a:solidFill>
              </a:rPr>
              <a:t>  Leitura 10-50x mais rapida para DataFrames grandes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0D1B3E"/>
                </a:solidFill>
              </a:rPr>
              <a:t>  Preserva tipos (datetime64, float64) automaticamente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0D1B3E"/>
                </a:solidFill>
              </a:rPr>
              <a:t>  Compressao snappy: ~5x menor que CSV sem perda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4736592"/>
            <a:ext cx="5760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300">
                <a:solidFill>
                  <a:srgbClr val="0D1B3E"/>
                </a:solidFill>
              </a:rPr>
              <a:t>  Suporta leitura parcial (colunas) sem carregar tudo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0D1B3E"/>
                </a:solidFill>
              </a:rPr>
              <a:t>  Padrao do ecossistema (Spark, Polars, DuckDB, Arrow)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0D1B3E"/>
                </a:solidFill>
              </a:rPr>
              <a:t>  API: df.to_parquet('path.parquet') / pd.read_parquet('path.parquet')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1440"/>
            <a:ext cx="1168603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O que Vamos Construir Hoje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40080"/>
            <a:ext cx="1168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0F4F8"/>
                </a:solidFill>
              </a:rPr>
              <a:t>Criterio de conclusao: notebook roda do inicio ao fim sem erros e gera os parquets abaixo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43000"/>
            <a:ext cx="7406640" cy="50749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7406640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88720"/>
            <a:ext cx="7132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Funcoes e logica que vamos implementar: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27632"/>
            <a:ext cx="7132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</a:pPr>
            <a:r>
              <a:rPr sz="1300">
                <a:solidFill>
                  <a:srgbClr val="0D1B3E"/>
                </a:solidFill>
              </a:rPr>
              <a:t>  baixar_precos(tickers, start, end) — download com retry e tratamento de erros</a:t>
            </a:r>
          </a:p>
          <a:p>
            <a:pPr>
              <a:spcBef>
                <a:spcPts val="900"/>
              </a:spcBef>
            </a:pPr>
            <a:r>
              <a:rPr sz="1300">
                <a:solidFill>
                  <a:srgbClr val="0D1B3E"/>
                </a:solidFill>
              </a:rPr>
              <a:t>  limpar_precos(df_raw) — remover NaN excessivos e outliers extremos</a:t>
            </a:r>
          </a:p>
          <a:p>
            <a:pPr>
              <a:spcBef>
                <a:spcPts val="900"/>
              </a:spcBef>
            </a:pPr>
            <a:r>
              <a:rPr sz="1300">
                <a:solidFill>
                  <a:srgbClr val="0D1B3E"/>
                </a:solidFill>
              </a:rPr>
              <a:t>  calcular_retornos_diarios(precos) — pct_change() com validacao</a:t>
            </a:r>
          </a:p>
          <a:p>
            <a:pPr>
              <a:spcBef>
                <a:spcPts val="900"/>
              </a:spcBef>
            </a:pPr>
            <a:r>
              <a:rPr sz="1300">
                <a:solidFill>
                  <a:srgbClr val="0D1B3E"/>
                </a:solidFill>
              </a:rPr>
              <a:t>  calcular_retornos_mensais(ret_diarios) — resample('ME').apply(composto)</a:t>
            </a:r>
          </a:p>
          <a:p>
            <a:pPr>
              <a:spcBef>
                <a:spcPts val="900"/>
              </a:spcBef>
            </a:pPr>
            <a:r>
              <a:rPr sz="1300">
                <a:solidFill>
                  <a:srgbClr val="0D1B3E"/>
                </a:solidFill>
              </a:rPr>
              <a:t>  pipeline completo: executar celulas em ordem, verificar shape e dtypes ao final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1143000"/>
            <a:ext cx="3840480" cy="2377440"/>
          </a:xfrm>
          <a:prstGeom prst="rect">
            <a:avLst/>
          </a:prstGeom>
          <a:solidFill>
            <a:srgbClr val="EAF4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1188720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3E"/>
                </a:solidFill>
              </a:rPr>
              <a:t>Entradas: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1572768"/>
            <a:ext cx="35661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>
                <a:solidFill>
                  <a:srgbClr val="0D1B3E"/>
                </a:solidFill>
              </a:rPr>
              <a:t>  (nenhum — esta aula gera os dados base)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1000" y="3749039"/>
            <a:ext cx="3840480" cy="2468880"/>
          </a:xfrm>
          <a:prstGeom prst="rect">
            <a:avLst/>
          </a:prstGeom>
          <a:solidFill>
            <a:srgbClr val="EAF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79" y="3794760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3E"/>
                </a:solidFill>
              </a:rPr>
              <a:t>Saidas (parquets):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4178808"/>
            <a:ext cx="35661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>
                <a:solidFill>
                  <a:srgbClr val="0D1B3E"/>
                </a:solidFill>
              </a:rPr>
              <a:t>  dados/precos_ibov.parquet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0D1B3E"/>
                </a:solidFill>
              </a:rPr>
              <a:t>  dados/retornos_diarios_limpo.parquet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0D1B3E"/>
                </a:solidFill>
              </a:rPr>
              <a:t>  dados/retornos_mensais_limpo.parquet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