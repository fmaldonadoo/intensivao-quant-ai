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3200400"/>
            <a:ext cx="1177747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4114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5A623"/>
                </a:solidFill>
              </a:rPr>
              <a:t>Aula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EDA: Analise Exploratoria dos Retornos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F4F8"/>
                </a:solidFill>
              </a:rPr>
              <a:t>Entender os dados antes de qualquer estrategia — nunca pule esta etapa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889A"/>
                </a:solidFill>
              </a:rPr>
              <a:t>Intensivao Quant AI | ImpactUFSCar |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Nesta aula: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49039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Por que EDA e obrigatoria antes de qualquer backtest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Distribuicao de retornos: fat tails e o problema com a gaussiana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Correlacoes entre acoes: o que realmente diversifica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Estacionariedade: por que usamos retornos e nao precos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Visualizacoes que revelam padroes (e armadilhas) nos dados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Estrutura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20 min de teoria + 40 min de live coding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55778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57784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Fundamentos (teoria)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Fat tails: por que a gaussiana falha em financas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Correlacoes dinamicas e seu significado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Estacionariedade e o teste ADF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O que o EDA revela sobre o IBOVESPA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55778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43000"/>
            <a:ext cx="557784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1887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Live Coding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627632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Distribuicao dos retornos (histograma + QQ-plot)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Heatmap de correlacoes entre acoes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Retorno medio vs volatilidade (scatter)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Evolucao temporal da correlacao media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Estatisticas descritivas completas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Distribuicao de Retornos — Fat 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Por que a hipotese de normalidade falha em dados financeiros reais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1B3E"/>
                </a:solidFill>
              </a:rPr>
              <a:t>O modelo de Black-Scholes e o CAPM assumem retornos normalmente distribuidos. Na realidade, retornos financeiros apresentam caudas mais pesadas que a gaussiana (fat tails), assimetria negativa e curtose elevada — o que subestima o risco de eventos extremos.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3639312" cy="43159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74519"/>
            <a:ext cx="3639312" cy="384048"/>
          </a:xfrm>
          <a:prstGeom prst="rect">
            <a:avLst/>
          </a:prstGeom>
          <a:solidFill>
            <a:srgbClr val="1A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938527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 que sao Fat Tails?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350008"/>
            <a:ext cx="3456432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Distribuicao normal: P(|r| &gt; 3σ) ≈ 0,3% dos dias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Mercado real: crashes de 5-10σ ocorrem muito mais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Exemplo: Black Monday 1987 = retorno de -22σ pela gaussiana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Curtose: mede o 'peso' das caudas (normal = 3; mercado &gt; 5)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Skewness negativa: quedas sao maiores que altas (assimetria)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874519"/>
            <a:ext cx="3639312" cy="43159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874519"/>
            <a:ext cx="3639312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9976" y="1938527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Implicacoes Praticas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9976" y="2350008"/>
            <a:ext cx="3456432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VaR gaussiano SUBESTIMA risco de cauda (Basel III reconhece isso)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Sharpe ratio assume normalidade — usar Sortino como complemento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Max drawdown captura o que o desvio-padrao nao captura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Testes estatisticos (t-test) perdem poder com fat tails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Usar bootstrap para intervalos de confianca mais robustos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1874519"/>
            <a:ext cx="3639312" cy="43159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874519"/>
            <a:ext cx="3639312" cy="38404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7" y="1938527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Como Medir no Python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7" y="2350008"/>
            <a:ext cx="3456432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scipy.stats.kurtosis(retornos, fisher=True)  # excesso sobre 3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scipy.stats.skew(retornos)  # negativo = cauda esquerda pesada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scipy.stats.jarque_bera(retornos)  # teste de normalidade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scipy.stats.probplot(retornos)  # QQ-plot visual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retornos.describe(percentiles=[.01,.05,.95,.99])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446520"/>
            <a:ext cx="1173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7889A"/>
                </a:solidFill>
              </a:rPr>
              <a:t>Ref.: Mandelbrot, B. (1963). The Variation of Certain Speculative Prices. J. of Business, 36(4), 394–419; Taleb, N.N. (2007). The Black Swan. Random House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Correlacoes e Estacionariedade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O que realmente diversifica e por que retornos (nao precos) sao o dado certo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5577840" cy="4983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Correlacoes entre Acoes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3736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Correlacao media do IBOVESPA: ~0,45 em periodos normais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Em crises: correlacoes sobem para ~0,80 (tudo cai junto)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Implicacao: diversificacao falha exatamente quando mais e necessaria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Clusters setoriais: bancos correlacionados entre si, mineracao idem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Heatmap de correlacao: ferramenta visual essencial pre-backtest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Correlacoes nao sao estaveis no tempo — monitorar janelas moveis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234440"/>
            <a:ext cx="5577840" cy="4983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2984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Estacionariedade — Por que Retornos?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3736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Preco e nao-estacionario: media e variancia mudam no tempo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Preco: tendencia de alta estrutural -&gt; regressao espuria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Retorno = ln(P_t/P_{t-1}): aproximadamente estacionario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Teste ADF (Augmented Dickey-Fuller): p&lt;0.05 rejeita raiz unitaria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Retornos passam no ADF; precos falham consistentemente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0D1B3E"/>
                </a:solidFill>
              </a:rPr>
              <a:t>  Regra: NUNCA modele precos diretamente — sempre retornos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6446520"/>
            <a:ext cx="1173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7889A"/>
                </a:solidFill>
              </a:rPr>
              <a:t>Ref.: Dickey, D.A. &amp; Fuller, W.A. (1979). Distribution of Estimators for AR Time Series with a Unit Root. JASA, 74(366), 427–431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 que Vamos Construir Hoje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Criterio de conclusao: notebook roda do inicio ao fim sem erros e gera os parquets abaixo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74066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740664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Funcoes e logica que vamos implementar: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7132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distribuicao_retornos(ret) — histograma + curva normal + estatisticas (kurt, skew)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qq_plot(ret) — quantil-quantil para visualizar desvio da normalidade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heatmap_correlacao(ret_mensais) — correlacoes medias do periodo todo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scatter_risco_retorno(ret_mensais) — retorno medio x volatilidade por acao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correlacao_movel(ret_mensais, janela=12) — evolucao temporal da correlacao media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143000"/>
            <a:ext cx="3840480" cy="2377440"/>
          </a:xfrm>
          <a:prstGeom prst="rect">
            <a:avLst/>
          </a:prstGeom>
          <a:solidFill>
            <a:srgbClr val="EAF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18872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Entradas: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572768"/>
            <a:ext cx="3566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dados/retornos_diarios_limpo.parquet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dados/retornos_mensais_limpo.parquet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3749039"/>
            <a:ext cx="3840480" cy="2468880"/>
          </a:xfrm>
          <a:prstGeom prst="rect">
            <a:avLst/>
          </a:prstGeom>
          <a:solidFill>
            <a:srgbClr val="EA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379476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Saidas (parquets):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4178808"/>
            <a:ext cx="3566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(EDA nao salva parquets — saida e visualizacoes e insights)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